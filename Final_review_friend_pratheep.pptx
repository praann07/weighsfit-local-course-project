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76" r:id="rId6"/>
    <p:sldId id="260" r:id="rId7"/>
    <p:sldId id="277" r:id="rId8"/>
    <p:sldId id="259" r:id="rId9"/>
    <p:sldId id="262" r:id="rId10"/>
    <p:sldId id="269" r:id="rId11"/>
    <p:sldId id="278" r:id="rId12"/>
    <p:sldId id="279" r:id="rId13"/>
    <p:sldId id="280" r:id="rId14"/>
    <p:sldId id="263" r:id="rId15"/>
    <p:sldId id="271" r:id="rId16"/>
    <p:sldId id="272" r:id="rId17"/>
    <p:sldId id="273" r:id="rId18"/>
    <p:sldId id="265" r:id="rId19"/>
    <p:sldId id="27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4C1C5F1D-ACC1-485E-993F-679869D1C13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899440-1C3D-44FF-9D87-638639B66AB1}"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4C1C5F1D-ACC1-485E-993F-679869D1C13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899440-1C3D-44FF-9D87-638639B66AB1}"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4C1C5F1D-ACC1-485E-993F-679869D1C13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899440-1C3D-44FF-9D87-638639B66AB1}"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4C1C5F1D-ACC1-485E-993F-679869D1C13D}"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4899440-1C3D-44FF-9D87-638639B66AB1}"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4C1C5F1D-ACC1-485E-993F-679869D1C13D}"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4899440-1C3D-44FF-9D87-638639B66AB1}"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4C1C5F1D-ACC1-485E-993F-679869D1C13D}"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4899440-1C3D-44FF-9D87-638639B66AB1}"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C1C5F1D-ACC1-485E-993F-679869D1C13D}"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4899440-1C3D-44FF-9D87-638639B66AB1}"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C1C5F1D-ACC1-485E-993F-679869D1C13D}"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4899440-1C3D-44FF-9D87-638639B66AB1}"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C1C5F1D-ACC1-485E-993F-679869D1C13D}"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4899440-1C3D-44FF-9D87-638639B66AB1}"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4C1C5F1D-ACC1-485E-993F-679869D1C13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899440-1C3D-44FF-9D87-638639B66AB1}"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4C1C5F1D-ACC1-485E-993F-679869D1C13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899440-1C3D-44FF-9D87-638639B66AB1}"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C1C5F1D-ACC1-485E-993F-679869D1C13D}"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4899440-1C3D-44FF-9D87-638639B66AB1}"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IN"/>
              <a:t>Online shopping funnel Analysis</a:t>
            </a:r>
            <a:endParaRPr lang="en-IN"/>
          </a:p>
        </p:txBody>
      </p:sp>
      <p:sp>
        <p:nvSpPr>
          <p:cNvPr id="3" name="Subtitle 2"/>
          <p:cNvSpPr>
            <a:spLocks noGrp="1"/>
          </p:cNvSpPr>
          <p:nvPr>
            <p:ph type="subTitle" idx="1"/>
          </p:nvPr>
        </p:nvSpPr>
        <p:spPr>
          <a:xfrm>
            <a:off x="6339122" y="4295177"/>
            <a:ext cx="5602357" cy="1993693"/>
          </a:xfrm>
        </p:spPr>
        <p:txBody>
          <a:bodyPr>
            <a:normAutofit fontScale="92500" lnSpcReduction="10000"/>
          </a:bodyPr>
          <a:lstStyle/>
          <a:p>
            <a:r>
              <a:rPr lang="en-US"/>
              <a:t>Team – 10</a:t>
            </a:r>
            <a:endParaRPr lang="en-US"/>
          </a:p>
          <a:p>
            <a:r>
              <a:rPr lang="en-US">
                <a:latin typeface="Bookman Old Style" panose="02050604050505020204" pitchFamily="18" charset="0"/>
              </a:rPr>
              <a:t>Harini      -CB.SC.U4AIE24010</a:t>
            </a:r>
            <a:endParaRPr lang="en-US">
              <a:latin typeface="Bookman Old Style" panose="02050604050505020204" pitchFamily="18" charset="0"/>
            </a:endParaRPr>
          </a:p>
          <a:p>
            <a:r>
              <a:rPr lang="en-US">
                <a:latin typeface="Bookman Old Style" panose="02050604050505020204" pitchFamily="18" charset="0"/>
              </a:rPr>
              <a:t>Pratheep   -CB.SC.U4AIE24021</a:t>
            </a:r>
            <a:endParaRPr lang="en-US">
              <a:latin typeface="Bookman Old Style" panose="02050604050505020204" pitchFamily="18" charset="0"/>
            </a:endParaRPr>
          </a:p>
          <a:p>
            <a:r>
              <a:rPr lang="en-US">
                <a:latin typeface="Bookman Old Style" panose="02050604050505020204" pitchFamily="18" charset="0"/>
              </a:rPr>
              <a:t>Bhavesh   -CB.SC.U4AIE24034</a:t>
            </a:r>
            <a:endParaRPr lang="en-US">
              <a:latin typeface="Bookman Old Style" panose="02050604050505020204" pitchFamily="18" charset="0"/>
            </a:endParaRPr>
          </a:p>
          <a:p>
            <a:r>
              <a:rPr lang="en-US">
                <a:latin typeface="Bookman Old Style" panose="02050604050505020204" pitchFamily="18" charset="0"/>
              </a:rPr>
              <a:t>Gnanasri   -CB.SC.U4AIE24064</a:t>
            </a:r>
            <a:endParaRPr lang="en-US">
              <a:latin typeface="Bookman Old Style" panose="02050604050505020204" pitchFamily="18" charset="0"/>
            </a:endParaRPr>
          </a:p>
          <a:p>
            <a:endParaRPr lang="en-US">
              <a:latin typeface="Bookman Old Style" panose="02050604050505020204" pitchFamily="18" charset="0"/>
            </a:endParaRPr>
          </a:p>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210079" y="0"/>
          <a:ext cx="3913682" cy="750888"/>
        </p:xfrm>
        <a:graphic>
          <a:graphicData uri="http://schemas.openxmlformats.org/drawingml/2006/table">
            <a:tbl>
              <a:tblPr/>
              <a:tblGrid>
                <a:gridCol w="3913682"/>
              </a:tblGrid>
              <a:tr h="0">
                <a:tc>
                  <a:txBody>
                    <a:bodyPr/>
                    <a:lstStyle/>
                    <a:p>
                      <a:pPr>
                        <a:lnSpc>
                          <a:spcPct val="150000"/>
                        </a:lnSpc>
                        <a:buNone/>
                      </a:pPr>
                      <a:r>
                        <a:rPr lang="en-US" sz="3200" b="1" u="sng">
                          <a:latin typeface="Baskerville Old Face" panose="02020602080505020303" pitchFamily="18" charset="0"/>
                          <a:cs typeface="Times New Roman" panose="02020603050405020304" pitchFamily="18" charset="0"/>
                        </a:rPr>
                        <a:t>Problem Statement</a:t>
                      </a:r>
                      <a:endParaRPr lang="en-US" sz="3200" u="sng">
                        <a:latin typeface="Baskerville Old Face" panose="02020602080505020303" pitchFamily="18" charset="0"/>
                        <a:cs typeface="Times New Roman" panose="02020603050405020304" pitchFamily="18" charset="0"/>
                      </a:endParaRPr>
                    </a:p>
                  </a:txBody>
                  <a:tcPr anchor="ctr">
                    <a:lnL>
                      <a:noFill/>
                    </a:lnL>
                    <a:lnR>
                      <a:noFill/>
                    </a:lnR>
                    <a:lnT>
                      <a:noFill/>
                    </a:lnT>
                    <a:lnB>
                      <a:noFill/>
                    </a:lnB>
                    <a:noFill/>
                  </a:tcPr>
                </a:tc>
              </a:tr>
            </a:tbl>
          </a:graphicData>
        </a:graphic>
      </p:graphicFrame>
      <p:graphicFrame>
        <p:nvGraphicFramePr>
          <p:cNvPr id="3" name="Table 2"/>
          <p:cNvGraphicFramePr>
            <a:graphicFrameLocks noGrp="1"/>
          </p:cNvGraphicFramePr>
          <p:nvPr/>
        </p:nvGraphicFramePr>
        <p:xfrm>
          <a:off x="1036983" y="796169"/>
          <a:ext cx="10515600" cy="5442585"/>
        </p:xfrm>
        <a:graphic>
          <a:graphicData uri="http://schemas.openxmlformats.org/drawingml/2006/table">
            <a:tbl>
              <a:tblPr/>
              <a:tblGrid>
                <a:gridCol w="10515600"/>
              </a:tblGrid>
              <a:tr h="248087">
                <a:tc>
                  <a:txBody>
                    <a:bodyPr/>
                    <a:lstStyle/>
                    <a:p>
                      <a:r>
                        <a:rPr lang="en-IN" sz="2200">
                          <a:effectLst/>
                          <a:latin typeface="Baskerville Old Face" panose="02020602080505020303" pitchFamily="18" charset="0"/>
                        </a:rPr>
                        <a:t>Online shopping platforms often work in separate parts. Customers face difficulty finding products easily, sellers struggle to manage stock and orders, and admins cannot get clear business insights. There is no single place that combines shopping, selling, and detailed analysis of how customers move from viewing products to buying and reviewing them.</a:t>
                      </a:r>
                      <a:endParaRPr lang="en-IN" sz="2200">
                        <a:effectLst/>
                        <a:latin typeface="Baskerville Old Face" panose="02020602080505020303" pitchFamily="18" charset="0"/>
                      </a:endParaRPr>
                    </a:p>
                    <a:p>
                      <a:endParaRPr lang="en-IN" sz="2200">
                        <a:effectLst/>
                        <a:latin typeface="Baskerville Old Face" panose="02020602080505020303" pitchFamily="18" charset="0"/>
                      </a:endParaRPr>
                    </a:p>
                    <a:p>
                      <a:r>
                        <a:rPr lang="en-IN" sz="2200" b="1">
                          <a:effectLst/>
                          <a:latin typeface="Baskerville Old Face" panose="02020602080505020303" pitchFamily="18" charset="0"/>
                        </a:rPr>
                        <a:t>Existing difficulties</a:t>
                      </a:r>
                      <a:endParaRPr lang="en-IN" sz="2200">
                        <a:effectLst/>
                        <a:latin typeface="Baskerville Old Face" panose="02020602080505020303" pitchFamily="18" charset="0"/>
                      </a:endParaRPr>
                    </a:p>
                    <a:p>
                      <a:pPr marL="342900" lvl="0" indent="-342900">
                        <a:buFont typeface="Arial" panose="020B0604020202020204" pitchFamily="34" charset="0"/>
                        <a:buChar char="•"/>
                      </a:pPr>
                      <a:r>
                        <a:rPr lang="en-IN" sz="2200">
                          <a:latin typeface="Baskerville Old Face" panose="02020602080505020303" pitchFamily="18" charset="0"/>
                        </a:rPr>
                        <a:t>Customers leave without buying because the process is complicated</a:t>
                      </a:r>
                      <a:endParaRPr lang="en-IN" sz="2200">
                        <a:latin typeface="Baskerville Old Face" panose="02020602080505020303" pitchFamily="18" charset="0"/>
                      </a:endParaRPr>
                    </a:p>
                    <a:p>
                      <a:pPr marL="342900" lvl="0" indent="-342900">
                        <a:buFont typeface="Arial" panose="020B0604020202020204" pitchFamily="34" charset="0"/>
                        <a:buChar char="•"/>
                      </a:pPr>
                      <a:r>
                        <a:rPr lang="en-IN" sz="2200">
                          <a:latin typeface="Baskerville Old Face" panose="02020602080505020303" pitchFamily="18" charset="0"/>
                        </a:rPr>
                        <a:t>Sellers cannot track product performance properly</a:t>
                      </a:r>
                      <a:endParaRPr lang="en-IN" sz="2200">
                        <a:latin typeface="Baskerville Old Face" panose="02020602080505020303" pitchFamily="18" charset="0"/>
                      </a:endParaRPr>
                    </a:p>
                    <a:p>
                      <a:pPr marL="342900" lvl="0" indent="-342900">
                        <a:buFont typeface="Arial" panose="020B0604020202020204" pitchFamily="34" charset="0"/>
                        <a:buChar char="•"/>
                      </a:pPr>
                      <a:r>
                        <a:rPr lang="en-IN" sz="2200">
                          <a:latin typeface="Baskerville Old Face" panose="02020602080505020303" pitchFamily="18" charset="0"/>
                        </a:rPr>
                        <a:t>Admins lack clear data on sales, revenue, and customer </a:t>
                      </a:r>
                      <a:r>
                        <a:rPr lang="en-IN" sz="2200" err="1">
                          <a:latin typeface="Baskerville Old Face" panose="02020602080505020303" pitchFamily="18" charset="0"/>
                        </a:rPr>
                        <a:t>behavior</a:t>
                      </a:r>
                      <a:endParaRPr lang="en-IN" sz="2200">
                        <a:latin typeface="Baskerville Old Face" panose="02020602080505020303" pitchFamily="18" charset="0"/>
                      </a:endParaRPr>
                    </a:p>
                    <a:p>
                      <a:pPr marL="342900" lvl="0" indent="-342900">
                        <a:buFont typeface="Arial" panose="020B0604020202020204" pitchFamily="34" charset="0"/>
                        <a:buChar char="•"/>
                      </a:pPr>
                      <a:r>
                        <a:rPr lang="en-IN" sz="2200">
                          <a:latin typeface="Baskerville Old Face" panose="02020602080505020303" pitchFamily="18" charset="0"/>
                        </a:rPr>
                        <a:t>No proper tracking of the full customer journey (browse → cart → order → payment → review)</a:t>
                      </a:r>
                      <a:endParaRPr lang="en-IN" sz="2200">
                        <a:latin typeface="Baskerville Old Face" panose="02020602080505020303" pitchFamily="18" charset="0"/>
                      </a:endParaRPr>
                    </a:p>
                    <a:p>
                      <a:pPr marL="0" lvl="0" indent="0">
                        <a:buFont typeface="Arial" panose="020B0604020202020204" pitchFamily="34" charset="0"/>
                        <a:buNone/>
                      </a:pPr>
                      <a:endParaRPr lang="en-IN" sz="2200">
                        <a:latin typeface="Baskerville Old Face" panose="02020602080505020303" pitchFamily="18" charset="0"/>
                      </a:endParaRPr>
                    </a:p>
                    <a:p>
                      <a:r>
                        <a:rPr lang="en-IN" sz="2200" b="1">
                          <a:effectLst/>
                          <a:latin typeface="Baskerville Old Face" panose="02020602080505020303" pitchFamily="18" charset="0"/>
                        </a:rPr>
                        <a:t>Why the system is needed</a:t>
                      </a:r>
                      <a:r>
                        <a:rPr lang="en-IN" sz="2200">
                          <a:effectLst/>
                          <a:latin typeface="Baskerville Old Face" panose="02020602080505020303" pitchFamily="18" charset="0"/>
                        </a:rPr>
                        <a:t> </a:t>
                      </a:r>
                      <a:endParaRPr lang="en-IN" sz="2200">
                        <a:effectLst/>
                        <a:latin typeface="Baskerville Old Face" panose="02020602080505020303" pitchFamily="18" charset="0"/>
                      </a:endParaRPr>
                    </a:p>
                    <a:p>
                      <a:pPr marL="342900" indent="-342900">
                        <a:buFont typeface="Wingdings" panose="05000000000000000000" pitchFamily="2" charset="2"/>
                        <a:buChar char="ü"/>
                      </a:pPr>
                      <a:r>
                        <a:rPr lang="en-IN" sz="2200">
                          <a:effectLst/>
                          <a:latin typeface="Baskerville Old Face" panose="02020602080505020303" pitchFamily="18" charset="0"/>
                        </a:rPr>
                        <a:t>A unified platform is required that supports customers, sellers, and admins together, while also providing clear funnel analysis to improve sales and user experience.</a:t>
                      </a:r>
                      <a:endParaRPr lang="en-IN" sz="2200">
                        <a:effectLst/>
                        <a:latin typeface="Baskerville Old Face" panose="02020602080505020303" pitchFamily="18" charset="0"/>
                      </a:endParaRPr>
                    </a:p>
                    <a:p>
                      <a:pPr>
                        <a:lnSpc>
                          <a:spcPct val="150000"/>
                        </a:lnSpc>
                        <a:buNone/>
                      </a:pPr>
                      <a:endParaRPr lang="en-US" sz="16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84010" y="297817"/>
          <a:ext cx="3583898" cy="750888"/>
        </p:xfrm>
        <a:graphic>
          <a:graphicData uri="http://schemas.openxmlformats.org/drawingml/2006/table">
            <a:tbl>
              <a:tblPr/>
              <a:tblGrid>
                <a:gridCol w="3583898"/>
              </a:tblGrid>
              <a:tr h="0">
                <a:tc>
                  <a:txBody>
                    <a:bodyPr/>
                    <a:lstStyle/>
                    <a:p>
                      <a:pPr lvl="1">
                        <a:lnSpc>
                          <a:spcPct val="150000"/>
                        </a:lnSpc>
                        <a:buNone/>
                      </a:pPr>
                      <a:r>
                        <a:rPr lang="en-US" sz="3200" b="1" i="0" u="sng">
                          <a:latin typeface="Baskerville Old Face" panose="02020602080505020303" pitchFamily="18" charset="0"/>
                          <a:cs typeface="Times New Roman" panose="02020603050405020304" pitchFamily="18" charset="0"/>
                        </a:rPr>
                        <a:t>Objectives</a:t>
                      </a:r>
                      <a:endParaRPr lang="en-US" sz="3200" i="0" u="sng">
                        <a:latin typeface="Baskerville Old Face" panose="02020602080505020303" pitchFamily="18" charset="0"/>
                        <a:cs typeface="Times New Roman" panose="02020603050405020304" pitchFamily="18" charset="0"/>
                      </a:endParaRPr>
                    </a:p>
                  </a:txBody>
                  <a:tcPr anchor="ctr">
                    <a:lnL>
                      <a:noFill/>
                    </a:lnL>
                    <a:lnR>
                      <a:noFill/>
                    </a:lnR>
                    <a:lnT>
                      <a:noFill/>
                    </a:lnT>
                    <a:lnB>
                      <a:noFill/>
                    </a:lnB>
                    <a:noFill/>
                  </a:tcPr>
                </a:tc>
              </a:tr>
            </a:tbl>
          </a:graphicData>
        </a:graphic>
      </p:graphicFrame>
      <p:graphicFrame>
        <p:nvGraphicFramePr>
          <p:cNvPr id="3" name="Table 2"/>
          <p:cNvGraphicFramePr>
            <a:graphicFrameLocks noGrp="1"/>
          </p:cNvGraphicFramePr>
          <p:nvPr/>
        </p:nvGraphicFramePr>
        <p:xfrm>
          <a:off x="1412240" y="1229360"/>
          <a:ext cx="9938880" cy="5377411"/>
        </p:xfrm>
        <a:graphic>
          <a:graphicData uri="http://schemas.openxmlformats.org/drawingml/2006/table">
            <a:tbl>
              <a:tblPr/>
              <a:tblGrid>
                <a:gridCol w="9938880"/>
              </a:tblGrid>
              <a:tr h="5377411">
                <a:tc>
                  <a:txBody>
                    <a:bodyPr/>
                    <a:lstStyle/>
                    <a:p>
                      <a:pPr marL="342900" lvl="0" indent="-342900">
                        <a:buFont typeface="Wingdings" panose="05000000000000000000" pitchFamily="2" charset="2"/>
                        <a:buChar char="Ø"/>
                      </a:pPr>
                      <a:r>
                        <a:rPr lang="en-IN" sz="2200">
                          <a:latin typeface="Baskerville Old Face" panose="02020602080505020303" pitchFamily="18" charset="0"/>
                        </a:rPr>
                        <a:t>Develop a unified e-commerce platform for customers, sellers, and admins</a:t>
                      </a:r>
                      <a:endParaRPr lang="en-IN" sz="2200">
                        <a:latin typeface="Baskerville Old Face" panose="02020602080505020303" pitchFamily="18" charset="0"/>
                      </a:endParaRPr>
                    </a:p>
                    <a:p>
                      <a:pPr marL="0" lvl="0" indent="0">
                        <a:buFont typeface="Wingdings" panose="05000000000000000000" pitchFamily="2" charset="2"/>
                        <a:buNone/>
                      </a:pPr>
                      <a:endParaRPr lang="en-IN" sz="2200">
                        <a:latin typeface="Baskerville Old Face" panose="02020602080505020303" pitchFamily="18" charset="0"/>
                      </a:endParaRPr>
                    </a:p>
                    <a:p>
                      <a:pPr marL="342900" lvl="0" indent="-342900">
                        <a:buFont typeface="Wingdings" panose="05000000000000000000" pitchFamily="2" charset="2"/>
                        <a:buChar char="Ø"/>
                      </a:pPr>
                      <a:r>
                        <a:rPr lang="en-IN" sz="2200">
                          <a:latin typeface="Baskerville Old Face" panose="02020602080505020303" pitchFamily="18" charset="0"/>
                        </a:rPr>
                        <a:t>Allow customers to register, browse products, add to cart, place orders, make payments, and give reviews</a:t>
                      </a:r>
                      <a:endParaRPr lang="en-IN" sz="2200">
                        <a:latin typeface="Baskerville Old Face" panose="02020602080505020303" pitchFamily="18" charset="0"/>
                      </a:endParaRPr>
                    </a:p>
                    <a:p>
                      <a:pPr marL="342900" lvl="0" indent="-342900">
                        <a:buFont typeface="Wingdings" panose="05000000000000000000" pitchFamily="2" charset="2"/>
                        <a:buChar char="Ø"/>
                      </a:pPr>
                      <a:endParaRPr lang="en-IN" sz="2200">
                        <a:latin typeface="Baskerville Old Face" panose="02020602080505020303"/>
                      </a:endParaRPr>
                    </a:p>
                    <a:p>
                      <a:pPr marL="342900" lvl="0" indent="-342900">
                        <a:buFont typeface="Wingdings" panose="05000000000000000000" pitchFamily="2" charset="2"/>
                        <a:buChar char="Ø"/>
                      </a:pPr>
                      <a:r>
                        <a:rPr lang="en-IN" sz="2200">
                          <a:latin typeface="Baskerville Old Face" panose="02020602080505020303" pitchFamily="18" charset="0"/>
                        </a:rPr>
                        <a:t>Enable sellers to add, update, and manage products, and process orders</a:t>
                      </a:r>
                      <a:endParaRPr lang="en-IN" sz="2200">
                        <a:latin typeface="Baskerville Old Face" panose="02020602080505020303" pitchFamily="18" charset="0"/>
                      </a:endParaRPr>
                    </a:p>
                    <a:p>
                      <a:pPr marL="0" lvl="0" indent="0">
                        <a:buFont typeface="Wingdings" panose="05000000000000000000" pitchFamily="2" charset="2"/>
                        <a:buNone/>
                      </a:pPr>
                      <a:endParaRPr lang="en-IN" sz="2200">
                        <a:latin typeface="Baskerville Old Face" panose="02020602080505020303" pitchFamily="18" charset="0"/>
                      </a:endParaRPr>
                    </a:p>
                    <a:p>
                      <a:pPr marL="342900" lvl="0" indent="-342900">
                        <a:buFont typeface="Wingdings" panose="05000000000000000000" pitchFamily="2" charset="2"/>
                        <a:buChar char="Ø"/>
                      </a:pPr>
                      <a:r>
                        <a:rPr lang="en-IN" sz="2200">
                          <a:latin typeface="Baskerville Old Face" panose="02020602080505020303" pitchFamily="18" charset="0"/>
                        </a:rPr>
                        <a:t>Provide an admin dashboard to monitor overall platform performance</a:t>
                      </a:r>
                      <a:endParaRPr lang="en-IN" sz="2200">
                        <a:latin typeface="Baskerville Old Face" panose="02020602080505020303" pitchFamily="18" charset="0"/>
                      </a:endParaRPr>
                    </a:p>
                    <a:p>
                      <a:pPr marL="0" lvl="0" indent="0">
                        <a:buFont typeface="Wingdings" panose="05000000000000000000" pitchFamily="2" charset="2"/>
                        <a:buNone/>
                      </a:pPr>
                      <a:endParaRPr lang="en-IN" sz="2200">
                        <a:latin typeface="Baskerville Old Face" panose="02020602080505020303" pitchFamily="18" charset="0"/>
                      </a:endParaRPr>
                    </a:p>
                    <a:p>
                      <a:pPr marL="342900" lvl="0" indent="-342900">
                        <a:buFont typeface="Wingdings" panose="05000000000000000000" pitchFamily="2" charset="2"/>
                        <a:buChar char="Ø"/>
                      </a:pPr>
                      <a:r>
                        <a:rPr lang="en-IN" sz="2200">
                          <a:latin typeface="Baskerville Old Face" panose="02020602080505020303" pitchFamily="18" charset="0"/>
                        </a:rPr>
                        <a:t>Perform Customer Purchase Funnel Analysis to track the full journey from browsing to review</a:t>
                      </a:r>
                      <a:endParaRPr lang="en-IN" sz="2200">
                        <a:latin typeface="Baskerville Old Face" panose="02020602080505020303" pitchFamily="18" charset="0"/>
                      </a:endParaRPr>
                    </a:p>
                    <a:p>
                      <a:pPr marL="0" lvl="0" indent="0">
                        <a:buFont typeface="Wingdings" panose="05000000000000000000" pitchFamily="2" charset="2"/>
                        <a:buNone/>
                      </a:pPr>
                      <a:endParaRPr lang="en-IN" sz="2200">
                        <a:latin typeface="Baskerville Old Face" panose="02020602080505020303" pitchFamily="18" charset="0"/>
                      </a:endParaRPr>
                    </a:p>
                    <a:p>
                      <a:pPr marL="342900" lvl="0" indent="-342900">
                        <a:buFont typeface="Wingdings" panose="05000000000000000000" pitchFamily="2" charset="2"/>
                        <a:buChar char="Ø"/>
                      </a:pPr>
                      <a:r>
                        <a:rPr lang="en-IN" sz="2200">
                          <a:latin typeface="Baskerville Old Face" panose="02020602080505020303"/>
                        </a:rPr>
                        <a:t>Support data-driven decisions through interactive dashboards and reports on sales, revenue, and customer </a:t>
                      </a:r>
                      <a:r>
                        <a:rPr lang="en-IN" sz="2200" err="1">
                          <a:latin typeface="Baskerville Old Face" panose="02020602080505020303"/>
                        </a:rPr>
                        <a:t>behavior</a:t>
                      </a:r>
                      <a:endParaRPr lang="en-IN" sz="2200">
                        <a:latin typeface="Baskerville Old Face" panose="02020602080505020303"/>
                      </a:endParaRPr>
                    </a:p>
                    <a:p>
                      <a:pPr>
                        <a:lnSpc>
                          <a:spcPct val="150000"/>
                        </a:lnSpc>
                        <a:buNone/>
                      </a:pPr>
                      <a:endParaRPr lang="en-US" sz="20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4"/>
          <p:cNvSpPr>
            <a:spLocks noGrp="1" noRot="1" noChangeAspect="1" noMove="1" noResize="1" noEditPoints="1" noAdjustHandles="1" noChangeArrowheads="1" noChangeShapeType="1" noTextEdit="1"/>
          </p:cNvSpPr>
          <p:nvPr/>
        </p:nvSpPr>
        <p:spPr>
          <a:xfrm>
            <a:off x="0" y="532014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p:cNvCxnSpPr>
            <a:cxnSpLocks noGrp="1" noRot="1" noChangeAspect="1" noMove="1" noResize="1" noEditPoints="1" noAdjustHandles="1" noChangeArrowheads="1" noChangeShapeType="1"/>
          </p:cNvCxnSpPr>
          <p:nvPr/>
        </p:nvCxnSpPr>
        <p:spPr>
          <a:xfrm>
            <a:off x="0" y="524198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a:cxnSpLocks noGrp="1" noRot="1" noChangeAspect="1" noMove="1" noResize="1" noEditPoints="1" noAdjustHandles="1" noChangeArrowheads="1" noChangeShapeType="1"/>
          </p:cNvCxnSpPr>
          <p:nvPr/>
        </p:nvCxnSpPr>
        <p:spPr>
          <a:xfrm>
            <a:off x="0" y="613485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1"/>
          <a:stretch>
            <a:fillRect/>
          </a:stretch>
        </p:blipFill>
        <p:spPr>
          <a:xfrm rot="-5400000">
            <a:off x="2903076" y="-1933013"/>
            <a:ext cx="6374643" cy="11194674"/>
          </a:xfrm>
          <a:prstGeom prst="rect">
            <a:avLst/>
          </a:prstGeom>
        </p:spPr>
      </p:pic>
      <p:sp>
        <p:nvSpPr>
          <p:cNvPr id="3" name="TextBox 2"/>
          <p:cNvSpPr txBox="1"/>
          <p:nvPr/>
        </p:nvSpPr>
        <p:spPr>
          <a:xfrm>
            <a:off x="124211" y="13801"/>
            <a:ext cx="3684926"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u="sng">
                <a:latin typeface="Baskerville Old Face" panose="02020602080505020303"/>
              </a:rPr>
              <a:t>ER Diagram</a:t>
            </a:r>
            <a:endParaRPr lang="en-US" sz="2400" b="1" u="sng">
              <a:latin typeface="Baskerville Old Face" panose="02020602080505020303"/>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4"/>
          <p:cNvSpPr>
            <a:spLocks noGrp="1" noRot="1" noChangeAspect="1" noMove="1" noResize="1" noEditPoints="1" noAdjustHandles="1" noChangeArrowheads="1" noChangeShapeType="1" noTextEdit="1"/>
          </p:cNvSpPr>
          <p:nvPr/>
        </p:nvSpPr>
        <p:spPr>
          <a:xfrm>
            <a:off x="0" y="532014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p:cNvCxnSpPr>
            <a:cxnSpLocks noGrp="1" noRot="1" noChangeAspect="1" noMove="1" noResize="1" noEditPoints="1" noAdjustHandles="1" noChangeArrowheads="1" noChangeShapeType="1"/>
          </p:cNvCxnSpPr>
          <p:nvPr/>
        </p:nvCxnSpPr>
        <p:spPr>
          <a:xfrm>
            <a:off x="0" y="524198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a:cxnSpLocks noGrp="1" noRot="1" noChangeAspect="1" noMove="1" noResize="1" noEditPoints="1" noAdjustHandles="1" noChangeArrowheads="1" noChangeShapeType="1"/>
          </p:cNvCxnSpPr>
          <p:nvPr/>
        </p:nvCxnSpPr>
        <p:spPr>
          <a:xfrm>
            <a:off x="0" y="613485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1"/>
          <a:stretch>
            <a:fillRect/>
          </a:stretch>
        </p:blipFill>
        <p:spPr>
          <a:xfrm rot="16200000">
            <a:off x="2660396" y="-1630680"/>
            <a:ext cx="6566408" cy="99466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4"/>
          <p:cNvSpPr>
            <a:spLocks noGrp="1" noRot="1" noChangeAspect="1" noMove="1" noResize="1" noEditPoints="1" noAdjustHandles="1" noChangeArrowheads="1" noChangeShapeType="1" noTextEdit="1"/>
          </p:cNvSpPr>
          <p:nvPr/>
        </p:nvSpPr>
        <p:spPr>
          <a:xfrm>
            <a:off x="0" y="532014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p:cNvCxnSpPr>
            <a:cxnSpLocks noGrp="1" noRot="1" noChangeAspect="1" noMove="1" noResize="1" noEditPoints="1" noAdjustHandles="1" noChangeArrowheads="1" noChangeShapeType="1"/>
          </p:cNvCxnSpPr>
          <p:nvPr/>
        </p:nvCxnSpPr>
        <p:spPr>
          <a:xfrm>
            <a:off x="0" y="524198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a:cxnSpLocks noGrp="1" noRot="1" noChangeAspect="1" noMove="1" noResize="1" noEditPoints="1" noAdjustHandles="1" noChangeArrowheads="1" noChangeShapeType="1"/>
          </p:cNvCxnSpPr>
          <p:nvPr/>
        </p:nvCxnSpPr>
        <p:spPr>
          <a:xfrm>
            <a:off x="0" y="613485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1"/>
          <a:stretch>
            <a:fillRect/>
          </a:stretch>
        </p:blipFill>
        <p:spPr>
          <a:xfrm>
            <a:off x="1765300" y="0"/>
            <a:ext cx="10287000" cy="6858000"/>
          </a:xfrm>
          <a:prstGeom prst="rect">
            <a:avLst/>
          </a:prstGeom>
        </p:spPr>
      </p:pic>
      <p:sp>
        <p:nvSpPr>
          <p:cNvPr id="3" name="TextBox 2"/>
          <p:cNvSpPr txBox="1"/>
          <p:nvPr/>
        </p:nvSpPr>
        <p:spPr>
          <a:xfrm>
            <a:off x="227711" y="331216"/>
            <a:ext cx="1552577"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r>
              <a:rPr lang="en-US" sz="2000"/>
              <a:t>UML</a:t>
            </a:r>
            <a:endParaRPr lang="en-US" sz="2000"/>
          </a:p>
          <a:p>
            <a:r>
              <a:rPr lang="en-US" sz="2000">
                <a:ea typeface="+mn-lt"/>
                <a:cs typeface="+mn-lt"/>
              </a:rPr>
              <a:t>Unified Modeling Language</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323103" y="157989"/>
            <a:ext cx="6093500" cy="758221"/>
          </a:xfrm>
          <a:prstGeom prst="rect">
            <a:avLst/>
          </a:prstGeom>
          <a:noFill/>
        </p:spPr>
        <p:txBody>
          <a:bodyPr wrap="square">
            <a:spAutoFit/>
          </a:bodyPr>
          <a:lstStyle/>
          <a:p>
            <a:pPr>
              <a:lnSpc>
                <a:spcPct val="150000"/>
              </a:lnSpc>
              <a:buNone/>
            </a:pPr>
            <a:r>
              <a:rPr lang="en-US" sz="3200" b="1">
                <a:latin typeface="Baskerville Old Face" panose="02020602080505020303" pitchFamily="18" charset="0"/>
                <a:cs typeface="Times New Roman" panose="02020603050405020304" pitchFamily="18" charset="0"/>
              </a:rPr>
              <a:t>Users / Actors</a:t>
            </a:r>
            <a:endParaRPr lang="en-US" sz="3200">
              <a:latin typeface="Baskerville Old Face" panose="02020602080505020303" pitchFamily="18" charset="0"/>
              <a:cs typeface="Times New Roman" panose="02020603050405020304" pitchFamily="18" charset="0"/>
            </a:endParaRPr>
          </a:p>
        </p:txBody>
      </p:sp>
      <p:sp>
        <p:nvSpPr>
          <p:cNvPr id="11" name="TextBox 10"/>
          <p:cNvSpPr txBox="1"/>
          <p:nvPr/>
        </p:nvSpPr>
        <p:spPr>
          <a:xfrm>
            <a:off x="2528121" y="900500"/>
            <a:ext cx="7776963" cy="5793702"/>
          </a:xfrm>
          <a:prstGeom prst="rect">
            <a:avLst/>
          </a:prstGeom>
          <a:noFill/>
        </p:spPr>
        <p:txBody>
          <a:bodyPr wrap="square">
            <a:spAutoFit/>
          </a:bodyPr>
          <a:lstStyle/>
          <a:p>
            <a:r>
              <a:rPr lang="en-IN" sz="2200" b="1">
                <a:latin typeface="Baskerville Old Face" panose="02020602080505020303" pitchFamily="18" charset="0"/>
              </a:rPr>
              <a:t>Customer</a:t>
            </a:r>
            <a:endParaRPr lang="en-IN" sz="2200">
              <a:latin typeface="Baskerville Old Face" panose="02020602080505020303" pitchFamily="18" charset="0"/>
            </a:endParaRPr>
          </a:p>
          <a:p>
            <a:pPr marL="342900" lvl="0" indent="-342900">
              <a:buFont typeface="Arial" panose="020B0604020202020204" pitchFamily="34" charset="0"/>
              <a:buChar char="•"/>
            </a:pPr>
            <a:r>
              <a:rPr lang="en-IN" sz="2200">
                <a:latin typeface="Baskerville Old Face" panose="02020602080505020303" pitchFamily="18" charset="0"/>
              </a:rPr>
              <a:t>Registers and logs in</a:t>
            </a:r>
            <a:endParaRPr lang="en-IN" sz="2200">
              <a:latin typeface="Baskerville Old Face" panose="02020602080505020303" pitchFamily="18" charset="0"/>
            </a:endParaRPr>
          </a:p>
          <a:p>
            <a:pPr marL="342900" lvl="0" indent="-342900">
              <a:buFont typeface="Arial" panose="020B0604020202020204" pitchFamily="34" charset="0"/>
              <a:buChar char="•"/>
            </a:pPr>
            <a:r>
              <a:rPr lang="en-IN" sz="2200">
                <a:latin typeface="Baskerville Old Face" panose="02020602080505020303" pitchFamily="18" charset="0"/>
              </a:rPr>
              <a:t>Browses and searches products</a:t>
            </a:r>
            <a:endParaRPr lang="en-IN" sz="2200">
              <a:latin typeface="Baskerville Old Face" panose="02020602080505020303" pitchFamily="18" charset="0"/>
            </a:endParaRPr>
          </a:p>
          <a:p>
            <a:pPr marL="342900" lvl="0" indent="-342900">
              <a:buFont typeface="Arial" panose="020B0604020202020204" pitchFamily="34" charset="0"/>
              <a:buChar char="•"/>
            </a:pPr>
            <a:r>
              <a:rPr lang="en-IN" sz="2200">
                <a:latin typeface="Baskerville Old Face" panose="02020602080505020303" pitchFamily="18" charset="0"/>
              </a:rPr>
              <a:t>Adds items to cart</a:t>
            </a:r>
            <a:endParaRPr lang="en-IN" sz="2200">
              <a:latin typeface="Baskerville Old Face" panose="02020602080505020303" pitchFamily="18" charset="0"/>
            </a:endParaRPr>
          </a:p>
          <a:p>
            <a:pPr marL="342900" lvl="0" indent="-342900">
              <a:buFont typeface="Arial" panose="020B0604020202020204" pitchFamily="34" charset="0"/>
              <a:buChar char="•"/>
            </a:pPr>
            <a:r>
              <a:rPr lang="en-IN" sz="2200">
                <a:latin typeface="Baskerville Old Face" panose="02020602080505020303" pitchFamily="18" charset="0"/>
              </a:rPr>
              <a:t>Places orders and makes payments</a:t>
            </a:r>
            <a:endParaRPr lang="en-IN" sz="2200">
              <a:latin typeface="Baskerville Old Face" panose="02020602080505020303" pitchFamily="18" charset="0"/>
            </a:endParaRPr>
          </a:p>
          <a:p>
            <a:pPr marL="342900" lvl="0" indent="-342900">
              <a:buFont typeface="Arial" panose="020B0604020202020204" pitchFamily="34" charset="0"/>
              <a:buChar char="•"/>
            </a:pPr>
            <a:r>
              <a:rPr lang="en-IN" sz="2200">
                <a:latin typeface="Baskerville Old Face" panose="02020602080505020303" pitchFamily="18" charset="0"/>
              </a:rPr>
              <a:t>Submits product reviews</a:t>
            </a:r>
            <a:endParaRPr lang="en-IN" sz="2200">
              <a:latin typeface="Baskerville Old Face" panose="02020602080505020303" pitchFamily="18" charset="0"/>
            </a:endParaRPr>
          </a:p>
          <a:p>
            <a:r>
              <a:rPr lang="en-IN" sz="2200" b="1">
                <a:latin typeface="Baskerville Old Face" panose="02020602080505020303" pitchFamily="18" charset="0"/>
              </a:rPr>
              <a:t>Seller</a:t>
            </a:r>
            <a:endParaRPr lang="en-IN" sz="2200">
              <a:latin typeface="Baskerville Old Face" panose="02020602080505020303" pitchFamily="18" charset="0"/>
            </a:endParaRPr>
          </a:p>
          <a:p>
            <a:pPr marL="342900" lvl="0" indent="-342900">
              <a:buFont typeface="Arial" panose="020B0604020202020204" pitchFamily="34" charset="0"/>
              <a:buChar char="•"/>
            </a:pPr>
            <a:r>
              <a:rPr lang="en-IN" sz="2200">
                <a:latin typeface="Baskerville Old Face" panose="02020602080505020303" pitchFamily="18" charset="0"/>
              </a:rPr>
              <a:t>Registers and manages own profile</a:t>
            </a:r>
            <a:endParaRPr lang="en-IN" sz="2200">
              <a:latin typeface="Baskerville Old Face" panose="02020602080505020303" pitchFamily="18" charset="0"/>
            </a:endParaRPr>
          </a:p>
          <a:p>
            <a:pPr marL="342900" lvl="0" indent="-342900">
              <a:buFont typeface="Arial" panose="020B0604020202020204" pitchFamily="34" charset="0"/>
              <a:buChar char="•"/>
            </a:pPr>
            <a:r>
              <a:rPr lang="en-IN" sz="2200">
                <a:latin typeface="Baskerville Old Face" panose="02020602080505020303" pitchFamily="18" charset="0"/>
              </a:rPr>
              <a:t>Adds, updates, and deletes products</a:t>
            </a:r>
            <a:endParaRPr lang="en-IN" sz="2200">
              <a:latin typeface="Baskerville Old Face" panose="02020602080505020303" pitchFamily="18" charset="0"/>
            </a:endParaRPr>
          </a:p>
          <a:p>
            <a:pPr marL="342900" lvl="0" indent="-342900">
              <a:buFont typeface="Arial" panose="020B0604020202020204" pitchFamily="34" charset="0"/>
              <a:buChar char="•"/>
            </a:pPr>
            <a:r>
              <a:rPr lang="en-IN" sz="2200">
                <a:latin typeface="Baskerville Old Face" panose="02020602080505020303" pitchFamily="18" charset="0"/>
              </a:rPr>
              <a:t>Views and processes orders</a:t>
            </a:r>
            <a:endParaRPr lang="en-IN" sz="2200">
              <a:latin typeface="Baskerville Old Face" panose="02020602080505020303" pitchFamily="18" charset="0"/>
            </a:endParaRPr>
          </a:p>
          <a:p>
            <a:pPr marL="342900" lvl="0" indent="-342900">
              <a:buFont typeface="Arial" panose="020B0604020202020204" pitchFamily="34" charset="0"/>
              <a:buChar char="•"/>
            </a:pPr>
            <a:r>
              <a:rPr lang="en-IN" sz="2200">
                <a:latin typeface="Baskerville Old Face" panose="02020602080505020303" pitchFamily="18" charset="0"/>
              </a:rPr>
              <a:t>Monitors own sales and product performance</a:t>
            </a:r>
            <a:endParaRPr lang="en-IN" sz="2200">
              <a:latin typeface="Baskerville Old Face" panose="02020602080505020303" pitchFamily="18" charset="0"/>
            </a:endParaRPr>
          </a:p>
          <a:p>
            <a:r>
              <a:rPr lang="en-IN" sz="2200" b="1">
                <a:latin typeface="Baskerville Old Face" panose="02020602080505020303" pitchFamily="18" charset="0"/>
              </a:rPr>
              <a:t>Admin</a:t>
            </a:r>
            <a:endParaRPr lang="en-IN" sz="2200">
              <a:latin typeface="Baskerville Old Face" panose="02020602080505020303" pitchFamily="18" charset="0"/>
            </a:endParaRPr>
          </a:p>
          <a:p>
            <a:pPr marL="342900" lvl="0" indent="-342900">
              <a:buFont typeface="Arial" panose="020B0604020202020204" pitchFamily="34" charset="0"/>
              <a:buChar char="•"/>
            </a:pPr>
            <a:r>
              <a:rPr lang="en-IN" sz="2200">
                <a:latin typeface="Baskerville Old Face" panose="02020602080505020303" pitchFamily="18" charset="0"/>
              </a:rPr>
              <a:t>Manages the entire platform</a:t>
            </a:r>
            <a:endParaRPr lang="en-IN" sz="2200">
              <a:latin typeface="Baskerville Old Face" panose="02020602080505020303" pitchFamily="18" charset="0"/>
            </a:endParaRPr>
          </a:p>
          <a:p>
            <a:pPr marL="342900" lvl="0" indent="-342900">
              <a:buFont typeface="Arial" panose="020B0604020202020204" pitchFamily="34" charset="0"/>
              <a:buChar char="•"/>
            </a:pPr>
            <a:r>
              <a:rPr lang="en-IN" sz="2200">
                <a:latin typeface="Baskerville Old Face" panose="02020602080505020303" pitchFamily="18" charset="0"/>
              </a:rPr>
              <a:t>Monitors customers, sellers, products, and orders</a:t>
            </a:r>
            <a:endParaRPr lang="en-IN" sz="2200">
              <a:latin typeface="Baskerville Old Face" panose="02020602080505020303" pitchFamily="18" charset="0"/>
            </a:endParaRPr>
          </a:p>
          <a:p>
            <a:pPr marL="342900" lvl="0" indent="-342900">
              <a:buFont typeface="Arial" panose="020B0604020202020204" pitchFamily="34" charset="0"/>
              <a:buChar char="•"/>
            </a:pPr>
            <a:r>
              <a:rPr lang="en-IN" sz="2200">
                <a:latin typeface="Baskerville Old Face" panose="02020602080505020303" pitchFamily="18" charset="0"/>
              </a:rPr>
              <a:t>Views business reports and dashboards</a:t>
            </a:r>
            <a:endParaRPr lang="en-IN" sz="2200">
              <a:latin typeface="Baskerville Old Face" panose="02020602080505020303" pitchFamily="18" charset="0"/>
            </a:endParaRPr>
          </a:p>
          <a:p>
            <a:pPr marL="342900" lvl="0" indent="-342900">
              <a:buFont typeface="Arial" panose="020B0604020202020204" pitchFamily="34" charset="0"/>
              <a:buChar char="•"/>
            </a:pPr>
            <a:r>
              <a:rPr lang="en-IN" sz="2200">
                <a:latin typeface="Baskerville Old Face" panose="02020602080505020303" pitchFamily="18" charset="0"/>
              </a:rPr>
              <a:t>Analyses sales, revenue, and customer purchase funnel</a:t>
            </a:r>
            <a:endParaRPr lang="en-IN" sz="2200">
              <a:latin typeface="Baskerville Old Face" panose="02020602080505020303" pitchFamily="18" charset="0"/>
            </a:endParaRPr>
          </a:p>
          <a:p>
            <a:pPr>
              <a:lnSpc>
                <a:spcPct val="150000"/>
              </a:lnSpc>
            </a:pPr>
            <a:endParaRPr lang="en-US" sz="1400">
              <a:latin typeface="Baskerville Old Face" panose="02020602080505020303"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4402" y="0"/>
            <a:ext cx="6093500" cy="579967"/>
          </a:xfrm>
          <a:prstGeom prst="rect">
            <a:avLst/>
          </a:prstGeom>
          <a:noFill/>
        </p:spPr>
        <p:txBody>
          <a:bodyPr wrap="square">
            <a:spAutoFit/>
          </a:bodyPr>
          <a:lstStyle/>
          <a:p>
            <a:pPr>
              <a:lnSpc>
                <a:spcPct val="150000"/>
              </a:lnSpc>
            </a:pPr>
            <a:r>
              <a:rPr lang="en-US" sz="2400" b="1">
                <a:latin typeface="Times New Roman" panose="02020603050405020304" pitchFamily="18" charset="0"/>
                <a:cs typeface="Times New Roman" panose="02020603050405020304" pitchFamily="18" charset="0"/>
              </a:rPr>
              <a:t>Relational Schema</a:t>
            </a:r>
            <a:endParaRPr lang="en-US" sz="2400" b="1">
              <a:latin typeface="Times New Roman" panose="02020603050405020304" pitchFamily="18" charset="0"/>
              <a:cs typeface="Times New Roman" panose="02020603050405020304" pitchFamily="18" charset="0"/>
            </a:endParaRPr>
          </a:p>
        </p:txBody>
      </p:sp>
      <p:sp>
        <p:nvSpPr>
          <p:cNvPr id="2" name="TextBox 1"/>
          <p:cNvSpPr txBox="1"/>
          <p:nvPr/>
        </p:nvSpPr>
        <p:spPr>
          <a:xfrm>
            <a:off x="283998" y="577433"/>
            <a:ext cx="11909507" cy="6247130"/>
          </a:xfrm>
          <a:prstGeom prst="rect">
            <a:avLst/>
          </a:prstGeom>
          <a:noFill/>
        </p:spPr>
        <p:txBody>
          <a:bodyPr wrap="square" lIns="91440" tIns="45720" rIns="91440" bIns="45720" rtlCol="0" anchor="t">
            <a:spAutoFit/>
          </a:bodyPr>
          <a:lstStyle/>
          <a:p>
            <a:pPr marL="457200" indent="-457200">
              <a:buAutoNum type="arabicPeriod"/>
            </a:pPr>
            <a:r>
              <a:rPr lang="en-IN" sz="2000" b="1">
                <a:ea typeface="+mn-lt"/>
                <a:cs typeface="+mn-lt"/>
              </a:rPr>
              <a:t>Admin</a:t>
            </a:r>
            <a:r>
              <a:rPr lang="en-IN" sz="2000">
                <a:ea typeface="+mn-lt"/>
                <a:cs typeface="+mn-lt"/>
              </a:rPr>
              <a:t> (</a:t>
            </a:r>
            <a:r>
              <a:rPr lang="en-IN" sz="2000" err="1">
                <a:ea typeface="+mn-lt"/>
                <a:cs typeface="+mn-lt"/>
              </a:rPr>
              <a:t>admin_id</a:t>
            </a:r>
            <a:r>
              <a:rPr lang="en-IN" sz="2000">
                <a:ea typeface="+mn-lt"/>
                <a:cs typeface="+mn-lt"/>
              </a:rPr>
              <a:t> (PK) ,name, email, password )</a:t>
            </a:r>
            <a:endParaRPr lang="en-IN">
              <a:ea typeface="+mn-lt"/>
              <a:cs typeface="+mn-lt"/>
            </a:endParaRPr>
          </a:p>
          <a:p>
            <a:pPr marL="457200" indent="-457200">
              <a:buAutoNum type="arabicPeriod"/>
            </a:pPr>
            <a:endParaRPr lang="en-IN" sz="2000">
              <a:ea typeface="+mn-lt"/>
              <a:cs typeface="+mn-lt"/>
            </a:endParaRPr>
          </a:p>
          <a:p>
            <a:pPr marL="457200" indent="-457200">
              <a:buAutoNum type="arabicPeriod"/>
            </a:pPr>
            <a:r>
              <a:rPr lang="en-IN" sz="2000" b="1">
                <a:ea typeface="+mn-lt"/>
                <a:cs typeface="+mn-lt"/>
              </a:rPr>
              <a:t>CUSTOMERS</a:t>
            </a:r>
            <a:r>
              <a:rPr lang="en-IN" sz="2000">
                <a:ea typeface="+mn-lt"/>
                <a:cs typeface="+mn-lt"/>
              </a:rPr>
              <a:t>(</a:t>
            </a:r>
            <a:r>
              <a:rPr lang="en-IN" sz="2000" err="1">
                <a:latin typeface="Consolas" panose="020B0609020204030204"/>
                <a:ea typeface="+mn-lt"/>
                <a:cs typeface="+mn-lt"/>
              </a:rPr>
              <a:t>customer_id</a:t>
            </a:r>
            <a:r>
              <a:rPr lang="en-IN" sz="2000">
                <a:ea typeface="+mn-lt"/>
                <a:cs typeface="+mn-lt"/>
              </a:rPr>
              <a:t> (PK), </a:t>
            </a:r>
            <a:r>
              <a:rPr lang="en-IN" sz="2000" err="1">
                <a:latin typeface="Consolas" panose="020B0609020204030204"/>
                <a:ea typeface="+mn-lt"/>
                <a:cs typeface="+mn-lt"/>
              </a:rPr>
              <a:t>first_name</a:t>
            </a:r>
            <a:r>
              <a:rPr lang="en-IN" sz="2000">
                <a:ea typeface="+mn-lt"/>
                <a:cs typeface="+mn-lt"/>
              </a:rPr>
              <a:t>, </a:t>
            </a:r>
            <a:r>
              <a:rPr lang="en-IN" sz="2000" err="1">
                <a:latin typeface="Consolas" panose="020B0609020204030204"/>
                <a:ea typeface="+mn-lt"/>
                <a:cs typeface="+mn-lt"/>
              </a:rPr>
              <a:t>last_name</a:t>
            </a:r>
            <a:r>
              <a:rPr lang="en-IN" sz="2000">
                <a:ea typeface="+mn-lt"/>
                <a:cs typeface="+mn-lt"/>
              </a:rPr>
              <a:t>, </a:t>
            </a:r>
            <a:r>
              <a:rPr lang="en-IN" sz="2000">
                <a:latin typeface="Consolas" panose="020B0609020204030204"/>
                <a:ea typeface="+mn-lt"/>
                <a:cs typeface="+mn-lt"/>
              </a:rPr>
              <a:t>email</a:t>
            </a:r>
            <a:r>
              <a:rPr lang="en-IN" sz="2000">
                <a:ea typeface="+mn-lt"/>
                <a:cs typeface="+mn-lt"/>
              </a:rPr>
              <a:t>, </a:t>
            </a:r>
            <a:r>
              <a:rPr lang="en-IN" sz="2000">
                <a:latin typeface="Consolas" panose="020B0609020204030204"/>
                <a:ea typeface="+mn-lt"/>
                <a:cs typeface="+mn-lt"/>
              </a:rPr>
              <a:t>password</a:t>
            </a:r>
            <a:r>
              <a:rPr lang="en-IN" sz="2000">
                <a:ea typeface="+mn-lt"/>
                <a:cs typeface="+mn-lt"/>
              </a:rPr>
              <a:t>, </a:t>
            </a:r>
            <a:r>
              <a:rPr lang="en-IN" sz="2000">
                <a:latin typeface="Consolas" panose="020B0609020204030204"/>
                <a:ea typeface="+mn-lt"/>
                <a:cs typeface="+mn-lt"/>
              </a:rPr>
              <a:t>phone</a:t>
            </a:r>
            <a:r>
              <a:rPr lang="en-IN" sz="2000">
                <a:ea typeface="+mn-lt"/>
                <a:cs typeface="+mn-lt"/>
              </a:rPr>
              <a:t>, </a:t>
            </a:r>
            <a:r>
              <a:rPr lang="en-IN" sz="2000">
                <a:latin typeface="Consolas" panose="020B0609020204030204"/>
                <a:ea typeface="+mn-lt"/>
                <a:cs typeface="+mn-lt"/>
              </a:rPr>
              <a:t>gender</a:t>
            </a:r>
            <a:r>
              <a:rPr lang="en-IN" sz="2000">
                <a:ea typeface="+mn-lt"/>
                <a:cs typeface="+mn-lt"/>
              </a:rPr>
              <a:t>, </a:t>
            </a:r>
            <a:r>
              <a:rPr lang="en-IN" sz="2000" err="1">
                <a:latin typeface="Consolas" panose="020B0609020204030204"/>
                <a:ea typeface="+mn-lt"/>
                <a:cs typeface="+mn-lt"/>
              </a:rPr>
              <a:t>city</a:t>
            </a:r>
            <a:r>
              <a:rPr lang="en-IN" sz="2000" err="1">
                <a:ea typeface="+mn-lt"/>
                <a:cs typeface="+mn-lt"/>
              </a:rPr>
              <a:t>,</a:t>
            </a:r>
            <a:r>
              <a:rPr lang="en-IN" sz="2000" err="1">
                <a:latin typeface="Consolas" panose="020B0609020204030204"/>
                <a:ea typeface="+mn-lt"/>
                <a:cs typeface="+mn-lt"/>
              </a:rPr>
              <a:t>state</a:t>
            </a:r>
            <a:r>
              <a:rPr lang="en-IN" sz="2000">
                <a:ea typeface="+mn-lt"/>
                <a:cs typeface="+mn-lt"/>
              </a:rPr>
              <a:t>, </a:t>
            </a:r>
            <a:r>
              <a:rPr lang="en-IN" sz="2000" err="1">
                <a:latin typeface="Consolas" panose="020B0609020204030204"/>
                <a:ea typeface="+mn-lt"/>
                <a:cs typeface="+mn-lt"/>
              </a:rPr>
              <a:t>created_at</a:t>
            </a:r>
            <a:r>
              <a:rPr lang="en-IN" sz="2000">
                <a:ea typeface="+mn-lt"/>
                <a:cs typeface="+mn-lt"/>
              </a:rPr>
              <a:t>)</a:t>
            </a:r>
            <a:endParaRPr lang="en-IN" sz="2000">
              <a:ea typeface="+mn-lt"/>
              <a:cs typeface="+mn-lt"/>
            </a:endParaRPr>
          </a:p>
          <a:p>
            <a:pPr marL="457200" indent="-457200">
              <a:buAutoNum type="arabicPeriod"/>
            </a:pPr>
            <a:endParaRPr lang="en-IN" sz="2000">
              <a:ea typeface="+mn-lt"/>
              <a:cs typeface="+mn-lt"/>
            </a:endParaRPr>
          </a:p>
          <a:p>
            <a:pPr marL="457200" indent="-457200">
              <a:buAutoNum type="arabicPeriod"/>
            </a:pPr>
            <a:r>
              <a:rPr lang="en-IN" sz="2000" b="1">
                <a:ea typeface="+mn-lt"/>
                <a:cs typeface="+mn-lt"/>
              </a:rPr>
              <a:t>SELLERS</a:t>
            </a:r>
            <a:r>
              <a:rPr lang="en-IN" sz="2000">
                <a:ea typeface="+mn-lt"/>
                <a:cs typeface="+mn-lt"/>
              </a:rPr>
              <a:t>(</a:t>
            </a:r>
            <a:r>
              <a:rPr lang="en-IN" sz="2000" err="1">
                <a:latin typeface="Consolas" panose="020B0609020204030204"/>
                <a:ea typeface="+mn-lt"/>
                <a:cs typeface="+mn-lt"/>
              </a:rPr>
              <a:t>seller_id</a:t>
            </a:r>
            <a:r>
              <a:rPr lang="en-IN" sz="2000">
                <a:ea typeface="+mn-lt"/>
                <a:cs typeface="+mn-lt"/>
              </a:rPr>
              <a:t> PK, </a:t>
            </a:r>
            <a:r>
              <a:rPr lang="en-IN" sz="2000" err="1">
                <a:latin typeface="Consolas" panose="020B0609020204030204"/>
                <a:ea typeface="+mn-lt"/>
                <a:cs typeface="+mn-lt"/>
              </a:rPr>
              <a:t>seller_name</a:t>
            </a:r>
            <a:r>
              <a:rPr lang="en-IN" sz="2000">
                <a:ea typeface="+mn-lt"/>
                <a:cs typeface="+mn-lt"/>
              </a:rPr>
              <a:t>, </a:t>
            </a:r>
            <a:r>
              <a:rPr lang="en-IN" sz="2000">
                <a:latin typeface="Consolas" panose="020B0609020204030204"/>
                <a:ea typeface="+mn-lt"/>
                <a:cs typeface="+mn-lt"/>
              </a:rPr>
              <a:t>email</a:t>
            </a:r>
            <a:r>
              <a:rPr lang="en-IN" sz="2000">
                <a:ea typeface="+mn-lt"/>
                <a:cs typeface="+mn-lt"/>
              </a:rPr>
              <a:t>, </a:t>
            </a:r>
            <a:r>
              <a:rPr lang="en-IN" sz="2000">
                <a:latin typeface="Consolas" panose="020B0609020204030204"/>
                <a:ea typeface="+mn-lt"/>
                <a:cs typeface="+mn-lt"/>
              </a:rPr>
              <a:t>phone</a:t>
            </a:r>
            <a:r>
              <a:rPr lang="en-IN" sz="2000">
                <a:ea typeface="+mn-lt"/>
                <a:cs typeface="+mn-lt"/>
              </a:rPr>
              <a:t>, </a:t>
            </a:r>
            <a:r>
              <a:rPr lang="en-IN" sz="2000">
                <a:latin typeface="Consolas" panose="020B0609020204030204"/>
                <a:ea typeface="+mn-lt"/>
                <a:cs typeface="+mn-lt"/>
              </a:rPr>
              <a:t>address</a:t>
            </a:r>
            <a:r>
              <a:rPr lang="en-IN" sz="2000">
                <a:ea typeface="+mn-lt"/>
                <a:cs typeface="+mn-lt"/>
              </a:rPr>
              <a:t>, </a:t>
            </a:r>
            <a:r>
              <a:rPr lang="en-IN" sz="2000">
                <a:latin typeface="Consolas" panose="020B0609020204030204"/>
                <a:ea typeface="+mn-lt"/>
                <a:cs typeface="+mn-lt"/>
              </a:rPr>
              <a:t>rating</a:t>
            </a:r>
            <a:r>
              <a:rPr lang="en-IN" sz="2000">
                <a:ea typeface="+mn-lt"/>
                <a:cs typeface="+mn-lt"/>
              </a:rPr>
              <a:t>, </a:t>
            </a:r>
            <a:r>
              <a:rPr lang="en-IN" sz="2000" err="1">
                <a:latin typeface="Consolas" panose="020B0609020204030204"/>
                <a:ea typeface="+mn-lt"/>
                <a:cs typeface="+mn-lt"/>
              </a:rPr>
              <a:t>joined_date</a:t>
            </a:r>
            <a:r>
              <a:rPr lang="en-IN" sz="2000">
                <a:ea typeface="+mn-lt"/>
                <a:cs typeface="+mn-lt"/>
              </a:rPr>
              <a:t>, </a:t>
            </a:r>
            <a:r>
              <a:rPr lang="en-IN" sz="2000">
                <a:latin typeface="Consolas" panose="020B0609020204030204"/>
                <a:ea typeface="+mn-lt"/>
                <a:cs typeface="+mn-lt"/>
              </a:rPr>
              <a:t>password</a:t>
            </a:r>
            <a:r>
              <a:rPr lang="en-IN" sz="2000">
                <a:ea typeface="+mn-lt"/>
                <a:cs typeface="+mn-lt"/>
              </a:rPr>
              <a:t>)</a:t>
            </a:r>
            <a:endParaRPr lang="en-IN" sz="2000">
              <a:ea typeface="+mn-lt"/>
              <a:cs typeface="+mn-lt"/>
            </a:endParaRPr>
          </a:p>
          <a:p>
            <a:pPr marL="457200" indent="-457200">
              <a:buAutoNum type="arabicPeriod"/>
            </a:pPr>
            <a:endParaRPr lang="en-IN" sz="2000">
              <a:ea typeface="+mn-lt"/>
              <a:cs typeface="+mn-lt"/>
            </a:endParaRPr>
          </a:p>
          <a:p>
            <a:pPr marL="457200" indent="-457200">
              <a:buAutoNum type="arabicPeriod"/>
            </a:pPr>
            <a:r>
              <a:rPr lang="en-IN" sz="2000" b="1">
                <a:ea typeface="+mn-lt"/>
                <a:cs typeface="+mn-lt"/>
              </a:rPr>
              <a:t>CART</a:t>
            </a:r>
            <a:r>
              <a:rPr lang="en-IN" sz="2000">
                <a:ea typeface="+mn-lt"/>
                <a:cs typeface="+mn-lt"/>
              </a:rPr>
              <a:t>(</a:t>
            </a:r>
            <a:r>
              <a:rPr lang="en-IN" sz="2000" err="1">
                <a:latin typeface="Consolas" panose="020B0609020204030204"/>
              </a:rPr>
              <a:t>cart_id</a:t>
            </a:r>
            <a:r>
              <a:rPr lang="en-IN" sz="2000">
                <a:ea typeface="+mn-lt"/>
                <a:cs typeface="+mn-lt"/>
              </a:rPr>
              <a:t> PK, </a:t>
            </a:r>
            <a:r>
              <a:rPr lang="en-IN" sz="2000" err="1">
                <a:latin typeface="Consolas" panose="020B0609020204030204"/>
              </a:rPr>
              <a:t>customer_id</a:t>
            </a:r>
            <a:r>
              <a:rPr lang="en-IN" sz="2000">
                <a:ea typeface="+mn-lt"/>
                <a:cs typeface="+mn-lt"/>
              </a:rPr>
              <a:t> FK, </a:t>
            </a:r>
            <a:r>
              <a:rPr lang="en-IN" sz="2000" err="1">
                <a:latin typeface="Consolas" panose="020B0609020204030204"/>
              </a:rPr>
              <a:t>product_id</a:t>
            </a:r>
            <a:r>
              <a:rPr lang="en-IN" sz="2000">
                <a:ea typeface="+mn-lt"/>
                <a:cs typeface="+mn-lt"/>
              </a:rPr>
              <a:t> FK, </a:t>
            </a:r>
            <a:r>
              <a:rPr lang="en-IN" sz="2000">
                <a:latin typeface="Consolas" panose="020B0609020204030204"/>
              </a:rPr>
              <a:t>quantity</a:t>
            </a:r>
            <a:r>
              <a:rPr lang="en-IN" sz="2000">
                <a:ea typeface="+mn-lt"/>
                <a:cs typeface="+mn-lt"/>
              </a:rPr>
              <a:t>, </a:t>
            </a:r>
            <a:r>
              <a:rPr lang="en-IN" sz="2000" err="1">
                <a:latin typeface="Consolas" panose="020B0609020204030204"/>
              </a:rPr>
              <a:t>added_date</a:t>
            </a:r>
            <a:r>
              <a:rPr lang="en-IN" sz="2000">
                <a:ea typeface="+mn-lt"/>
                <a:cs typeface="+mn-lt"/>
              </a:rPr>
              <a:t>)</a:t>
            </a:r>
            <a:endParaRPr lang="en-IN">
              <a:ea typeface="+mn-lt"/>
              <a:cs typeface="+mn-lt"/>
            </a:endParaRPr>
          </a:p>
          <a:p>
            <a:pPr marL="457200" indent="-457200">
              <a:buAutoNum type="arabicPeriod"/>
            </a:pPr>
            <a:endParaRPr lang="en-IN" sz="2000">
              <a:ea typeface="+mn-lt"/>
              <a:cs typeface="+mn-lt"/>
            </a:endParaRPr>
          </a:p>
          <a:p>
            <a:pPr marL="457200" indent="-457200">
              <a:buAutoNum type="arabicPeriod"/>
            </a:pPr>
            <a:r>
              <a:rPr lang="en-IN" sz="2000" b="1">
                <a:ea typeface="+mn-lt"/>
                <a:cs typeface="+mn-lt"/>
              </a:rPr>
              <a:t>ORDER_ITEMS</a:t>
            </a:r>
            <a:r>
              <a:rPr lang="en-IN" sz="2000">
                <a:ea typeface="+mn-lt"/>
                <a:cs typeface="+mn-lt"/>
              </a:rPr>
              <a:t>(</a:t>
            </a:r>
            <a:r>
              <a:rPr lang="en-IN" sz="2000" err="1">
                <a:latin typeface="Consolas" panose="020B0609020204030204"/>
              </a:rPr>
              <a:t>order_item_id</a:t>
            </a:r>
            <a:r>
              <a:rPr lang="en-IN" sz="2000">
                <a:ea typeface="+mn-lt"/>
                <a:cs typeface="+mn-lt"/>
              </a:rPr>
              <a:t> PK, </a:t>
            </a:r>
            <a:r>
              <a:rPr lang="en-IN" sz="2000" err="1">
                <a:latin typeface="Consolas" panose="020B0609020204030204"/>
              </a:rPr>
              <a:t>order_id</a:t>
            </a:r>
            <a:r>
              <a:rPr lang="en-IN" sz="2000">
                <a:ea typeface="+mn-lt"/>
                <a:cs typeface="+mn-lt"/>
              </a:rPr>
              <a:t> FK, </a:t>
            </a:r>
            <a:r>
              <a:rPr lang="en-IN" sz="2000" err="1">
                <a:latin typeface="Consolas" panose="020B0609020204030204"/>
              </a:rPr>
              <a:t>product_id</a:t>
            </a:r>
            <a:r>
              <a:rPr lang="en-IN" sz="2000">
                <a:ea typeface="+mn-lt"/>
                <a:cs typeface="+mn-lt"/>
              </a:rPr>
              <a:t> FK, </a:t>
            </a:r>
            <a:r>
              <a:rPr lang="en-IN" sz="2000">
                <a:latin typeface="Consolas" panose="020B0609020204030204"/>
              </a:rPr>
              <a:t>quantity</a:t>
            </a:r>
            <a:r>
              <a:rPr lang="en-IN" sz="2000">
                <a:ea typeface="+mn-lt"/>
                <a:cs typeface="+mn-lt"/>
              </a:rPr>
              <a:t>, </a:t>
            </a:r>
            <a:r>
              <a:rPr lang="en-IN" sz="2000" err="1">
                <a:latin typeface="Consolas" panose="020B0609020204030204"/>
              </a:rPr>
              <a:t>unit_price</a:t>
            </a:r>
            <a:r>
              <a:rPr lang="en-IN" sz="2000">
                <a:ea typeface="+mn-lt"/>
                <a:cs typeface="+mn-lt"/>
              </a:rPr>
              <a:t>, </a:t>
            </a:r>
            <a:r>
              <a:rPr lang="en-IN" sz="2000">
                <a:latin typeface="Consolas" panose="020B0609020204030204"/>
              </a:rPr>
              <a:t>subtotal</a:t>
            </a:r>
            <a:r>
              <a:rPr lang="en-IN" sz="2000">
                <a:ea typeface="+mn-lt"/>
                <a:cs typeface="+mn-lt"/>
              </a:rPr>
              <a:t>)</a:t>
            </a:r>
            <a:endParaRPr lang="en-IN"/>
          </a:p>
          <a:p>
            <a:pPr marL="457200" indent="-457200">
              <a:buAutoNum type="arabicPeriod"/>
            </a:pPr>
            <a:endParaRPr lang="en-IN" sz="2000">
              <a:ea typeface="+mn-lt"/>
              <a:cs typeface="+mn-lt"/>
            </a:endParaRPr>
          </a:p>
          <a:p>
            <a:pPr marL="457200" indent="-457200">
              <a:buAutoNum type="arabicPeriod"/>
            </a:pPr>
            <a:r>
              <a:rPr lang="en-IN" sz="2000" b="1">
                <a:ea typeface="+mn-lt"/>
                <a:cs typeface="+mn-lt"/>
              </a:rPr>
              <a:t>ORDERS</a:t>
            </a:r>
            <a:r>
              <a:rPr lang="en-IN" sz="2000">
                <a:ea typeface="+mn-lt"/>
                <a:cs typeface="+mn-lt"/>
              </a:rPr>
              <a:t>(</a:t>
            </a:r>
            <a:r>
              <a:rPr lang="en-IN" sz="2000" err="1">
                <a:latin typeface="Consolas" panose="020B0609020204030204"/>
              </a:rPr>
              <a:t>order_id</a:t>
            </a:r>
            <a:r>
              <a:rPr lang="en-IN" sz="2000">
                <a:ea typeface="+mn-lt"/>
                <a:cs typeface="+mn-lt"/>
              </a:rPr>
              <a:t> PK, </a:t>
            </a:r>
            <a:r>
              <a:rPr lang="en-IN" sz="2000" err="1">
                <a:latin typeface="Consolas" panose="020B0609020204030204"/>
              </a:rPr>
              <a:t>customer_id</a:t>
            </a:r>
            <a:r>
              <a:rPr lang="en-IN" sz="2000">
                <a:ea typeface="+mn-lt"/>
                <a:cs typeface="+mn-lt"/>
              </a:rPr>
              <a:t> FK, </a:t>
            </a:r>
            <a:r>
              <a:rPr lang="en-IN" sz="2000" err="1">
                <a:latin typeface="Consolas" panose="020B0609020204030204"/>
              </a:rPr>
              <a:t>order_date</a:t>
            </a:r>
            <a:r>
              <a:rPr lang="en-IN" sz="2000">
                <a:ea typeface="+mn-lt"/>
                <a:cs typeface="+mn-lt"/>
              </a:rPr>
              <a:t>, </a:t>
            </a:r>
            <a:r>
              <a:rPr lang="en-IN" sz="2000" err="1">
                <a:latin typeface="Consolas" panose="020B0609020204030204"/>
              </a:rPr>
              <a:t>total_amount</a:t>
            </a:r>
            <a:r>
              <a:rPr lang="en-IN" sz="2000">
                <a:ea typeface="+mn-lt"/>
                <a:cs typeface="+mn-lt"/>
              </a:rPr>
              <a:t>, </a:t>
            </a:r>
            <a:r>
              <a:rPr lang="en-IN" sz="2000" err="1">
                <a:latin typeface="Consolas" panose="020B0609020204030204"/>
              </a:rPr>
              <a:t>order_status</a:t>
            </a:r>
            <a:r>
              <a:rPr lang="en-IN" sz="2000">
                <a:ea typeface="+mn-lt"/>
                <a:cs typeface="+mn-lt"/>
              </a:rPr>
              <a:t>, </a:t>
            </a:r>
            <a:r>
              <a:rPr lang="en-IN" sz="2000" err="1">
                <a:latin typeface="Consolas" panose="020B0609020204030204"/>
              </a:rPr>
              <a:t>shipping_addr</a:t>
            </a:r>
            <a:r>
              <a:rPr lang="en-IN" sz="2000">
                <a:ea typeface="+mn-lt"/>
                <a:cs typeface="+mn-lt"/>
              </a:rPr>
              <a:t>, </a:t>
            </a:r>
            <a:r>
              <a:rPr lang="en-IN" sz="2000" err="1">
                <a:latin typeface="Consolas" panose="020B0609020204030204"/>
              </a:rPr>
              <a:t>delivery_date</a:t>
            </a:r>
            <a:r>
              <a:rPr lang="en-IN" sz="2000">
                <a:ea typeface="+mn-lt"/>
                <a:cs typeface="+mn-lt"/>
              </a:rPr>
              <a:t>)</a:t>
            </a:r>
            <a:endParaRPr lang="en-IN"/>
          </a:p>
          <a:p>
            <a:pPr marL="457200" indent="-457200">
              <a:buAutoNum type="arabicPeriod"/>
            </a:pPr>
            <a:endParaRPr lang="en-IN" sz="2000">
              <a:ea typeface="+mn-lt"/>
              <a:cs typeface="+mn-lt"/>
            </a:endParaRPr>
          </a:p>
          <a:p>
            <a:pPr marL="457200" indent="-457200">
              <a:buAutoNum type="arabicPeriod"/>
            </a:pPr>
            <a:r>
              <a:rPr lang="en-IN" sz="2000" b="1">
                <a:ea typeface="+mn-lt"/>
                <a:cs typeface="+mn-lt"/>
              </a:rPr>
              <a:t>PAYMENTS</a:t>
            </a:r>
            <a:r>
              <a:rPr lang="en-IN" sz="2000">
                <a:ea typeface="+mn-lt"/>
                <a:cs typeface="+mn-lt"/>
              </a:rPr>
              <a:t>(</a:t>
            </a:r>
            <a:r>
              <a:rPr lang="en-IN" sz="2000" err="1">
                <a:latin typeface="Consolas" panose="020B0609020204030204"/>
              </a:rPr>
              <a:t>payment_id</a:t>
            </a:r>
            <a:r>
              <a:rPr lang="en-IN" sz="2000">
                <a:ea typeface="+mn-lt"/>
                <a:cs typeface="+mn-lt"/>
              </a:rPr>
              <a:t> PK, </a:t>
            </a:r>
            <a:r>
              <a:rPr lang="en-IN" sz="2000" err="1">
                <a:latin typeface="Consolas" panose="020B0609020204030204"/>
              </a:rPr>
              <a:t>order_id</a:t>
            </a:r>
            <a:r>
              <a:rPr lang="en-IN" sz="2000">
                <a:ea typeface="+mn-lt"/>
                <a:cs typeface="+mn-lt"/>
              </a:rPr>
              <a:t> FK, </a:t>
            </a:r>
            <a:r>
              <a:rPr lang="en-IN" sz="2000" err="1">
                <a:latin typeface="Consolas" panose="020B0609020204030204"/>
              </a:rPr>
              <a:t>payment_method</a:t>
            </a:r>
            <a:r>
              <a:rPr lang="en-IN" sz="2000">
                <a:ea typeface="+mn-lt"/>
                <a:cs typeface="+mn-lt"/>
              </a:rPr>
              <a:t>, </a:t>
            </a:r>
            <a:r>
              <a:rPr lang="en-IN" sz="2000">
                <a:latin typeface="Consolas" panose="020B0609020204030204"/>
              </a:rPr>
              <a:t>amount</a:t>
            </a:r>
            <a:r>
              <a:rPr lang="en-IN" sz="2000">
                <a:ea typeface="+mn-lt"/>
                <a:cs typeface="+mn-lt"/>
              </a:rPr>
              <a:t>, </a:t>
            </a:r>
            <a:r>
              <a:rPr lang="en-IN" sz="2000" err="1">
                <a:latin typeface="Consolas" panose="020B0609020204030204"/>
              </a:rPr>
              <a:t>payment_date</a:t>
            </a:r>
            <a:r>
              <a:rPr lang="en-IN" sz="2000">
                <a:ea typeface="+mn-lt"/>
                <a:cs typeface="+mn-lt"/>
              </a:rPr>
              <a:t>, </a:t>
            </a:r>
            <a:r>
              <a:rPr lang="en-IN" sz="2000" err="1">
                <a:latin typeface="Consolas" panose="020B0609020204030204"/>
              </a:rPr>
              <a:t>payment_status</a:t>
            </a:r>
            <a:r>
              <a:rPr lang="en-IN" sz="2000">
                <a:ea typeface="+mn-lt"/>
                <a:cs typeface="+mn-lt"/>
              </a:rPr>
              <a:t>, </a:t>
            </a:r>
            <a:r>
              <a:rPr lang="en-IN" sz="2000" err="1">
                <a:latin typeface="Consolas" panose="020B0609020204030204"/>
              </a:rPr>
              <a:t>transaction_id</a:t>
            </a:r>
            <a:r>
              <a:rPr lang="en-IN" sz="2000">
                <a:ea typeface="+mn-lt"/>
                <a:cs typeface="+mn-lt"/>
              </a:rPr>
              <a:t>)</a:t>
            </a:r>
            <a:endParaRPr lang="en-IN">
              <a:ea typeface="+mn-lt"/>
              <a:cs typeface="+mn-lt"/>
            </a:endParaRPr>
          </a:p>
          <a:p>
            <a:pPr marL="457200" indent="-457200">
              <a:buAutoNum type="arabicPeriod"/>
            </a:pPr>
            <a:endParaRPr lang="en-IN" sz="2000">
              <a:ea typeface="+mn-lt"/>
              <a:cs typeface="+mn-lt"/>
            </a:endParaRPr>
          </a:p>
          <a:p>
            <a:endParaRPr lang="en-IN" sz="2000"/>
          </a:p>
          <a:p>
            <a:pPr marL="457200" indent="-457200">
              <a:buAutoNum type="arabicPeriod"/>
            </a:pPr>
            <a:endParaRPr lang="en-IN" sz="2000" b="1">
              <a:latin typeface="Baskerville Old Face" panose="02020602080505020303"/>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7972" y="308997"/>
            <a:ext cx="10465242" cy="6247864"/>
          </a:xfrm>
          <a:prstGeom prst="rect">
            <a:avLst/>
          </a:prstGeom>
          <a:noFill/>
        </p:spPr>
        <p:txBody>
          <a:bodyPr wrap="square" lIns="91440" tIns="45720" rIns="91440" bIns="45720" rtlCol="0" anchor="t">
            <a:spAutoFit/>
          </a:bodyPr>
          <a:lstStyle/>
          <a:p>
            <a:pPr marL="457200" indent="-457200">
              <a:buAutoNum type="arabicPeriod"/>
            </a:pPr>
            <a:endParaRPr lang="en-IN" sz="2000" b="1">
              <a:latin typeface="Times New Roman" panose="02020603050405020304"/>
              <a:cs typeface="Times New Roman" panose="02020603050405020304"/>
            </a:endParaRPr>
          </a:p>
          <a:p>
            <a:pPr marL="457200" indent="-457200">
              <a:buAutoNum type="arabicPeriod"/>
            </a:pPr>
            <a:r>
              <a:rPr lang="en-IN" sz="2000" b="1">
                <a:latin typeface="Times New Roman" panose="02020603050405020304"/>
                <a:cs typeface="Times New Roman" panose="02020603050405020304"/>
              </a:rPr>
              <a:t>PRODUCTS</a:t>
            </a:r>
            <a:r>
              <a:rPr lang="en-IN" sz="2000">
                <a:latin typeface="Times New Roman" panose="02020603050405020304"/>
                <a:cs typeface="Times New Roman" panose="02020603050405020304"/>
              </a:rPr>
              <a:t>(</a:t>
            </a:r>
            <a:r>
              <a:rPr lang="en-IN" sz="2000" err="1">
                <a:latin typeface="Times New Roman" panose="02020603050405020304"/>
                <a:cs typeface="Times New Roman" panose="02020603050405020304"/>
              </a:rPr>
              <a:t>product_id</a:t>
            </a:r>
            <a:r>
              <a:rPr lang="en-IN" sz="2000">
                <a:latin typeface="Times New Roman" panose="02020603050405020304"/>
                <a:cs typeface="Times New Roman" panose="02020603050405020304"/>
              </a:rPr>
              <a:t> PK, </a:t>
            </a:r>
            <a:r>
              <a:rPr lang="en-IN" sz="2000" err="1">
                <a:latin typeface="Times New Roman" panose="02020603050405020304"/>
                <a:cs typeface="Times New Roman" panose="02020603050405020304"/>
              </a:rPr>
              <a:t>seller_id</a:t>
            </a:r>
            <a:r>
              <a:rPr lang="en-IN" sz="2000">
                <a:latin typeface="Times New Roman" panose="02020603050405020304"/>
                <a:cs typeface="Times New Roman" panose="02020603050405020304"/>
              </a:rPr>
              <a:t> FK, gender, category, </a:t>
            </a:r>
            <a:r>
              <a:rPr lang="en-IN" sz="2000" err="1">
                <a:latin typeface="Times New Roman" panose="02020603050405020304"/>
                <a:cs typeface="Times New Roman" panose="02020603050405020304"/>
              </a:rPr>
              <a:t>sub_category</a:t>
            </a:r>
            <a:r>
              <a:rPr lang="en-IN" sz="2000">
                <a:latin typeface="Times New Roman" panose="02020603050405020304"/>
                <a:cs typeface="Times New Roman" panose="02020603050405020304"/>
              </a:rPr>
              <a:t>, </a:t>
            </a:r>
            <a:r>
              <a:rPr lang="en-IN" sz="2000" err="1">
                <a:latin typeface="Times New Roman" panose="02020603050405020304"/>
                <a:cs typeface="Times New Roman" panose="02020603050405020304"/>
              </a:rPr>
              <a:t>product_type</a:t>
            </a:r>
            <a:r>
              <a:rPr lang="en-IN" sz="2000">
                <a:latin typeface="Times New Roman" panose="02020603050405020304"/>
                <a:cs typeface="Times New Roman" panose="02020603050405020304"/>
              </a:rPr>
              <a:t>, </a:t>
            </a:r>
            <a:r>
              <a:rPr lang="en-IN" sz="2000" err="1">
                <a:latin typeface="Times New Roman" panose="02020603050405020304"/>
                <a:cs typeface="Times New Roman" panose="02020603050405020304"/>
              </a:rPr>
              <a:t>colour,usage_type</a:t>
            </a:r>
            <a:r>
              <a:rPr lang="en-IN" sz="2000">
                <a:latin typeface="Times New Roman" panose="02020603050405020304"/>
                <a:cs typeface="Times New Roman" panose="02020603050405020304"/>
              </a:rPr>
              <a:t>, </a:t>
            </a:r>
            <a:r>
              <a:rPr lang="en-IN" sz="2000" err="1">
                <a:latin typeface="Times New Roman" panose="02020603050405020304"/>
                <a:cs typeface="Times New Roman" panose="02020603050405020304"/>
              </a:rPr>
              <a:t>product_title</a:t>
            </a:r>
            <a:r>
              <a:rPr lang="en-IN" sz="2000">
                <a:latin typeface="Times New Roman" panose="02020603050405020304"/>
                <a:cs typeface="Times New Roman" panose="02020603050405020304"/>
              </a:rPr>
              <a:t>, image, </a:t>
            </a:r>
            <a:r>
              <a:rPr lang="en-IN" sz="2000" err="1">
                <a:latin typeface="Times New Roman" panose="02020603050405020304"/>
                <a:cs typeface="Times New Roman" panose="02020603050405020304"/>
              </a:rPr>
              <a:t>image_url</a:t>
            </a:r>
            <a:r>
              <a:rPr lang="en-IN" sz="2000">
                <a:latin typeface="Times New Roman" panose="02020603050405020304"/>
                <a:cs typeface="Times New Roman" panose="02020603050405020304"/>
              </a:rPr>
              <a:t>, brand, price, </a:t>
            </a:r>
            <a:r>
              <a:rPr lang="en-IN" sz="2000" err="1">
                <a:latin typeface="Times New Roman" panose="02020603050405020304"/>
                <a:cs typeface="Times New Roman" panose="02020603050405020304"/>
              </a:rPr>
              <a:t>stock_quantity</a:t>
            </a:r>
            <a:r>
              <a:rPr lang="en-IN" sz="2000">
                <a:latin typeface="Times New Roman" panose="02020603050405020304"/>
                <a:cs typeface="Times New Roman" panose="02020603050405020304"/>
              </a:rPr>
              <a:t>)</a:t>
            </a:r>
            <a:endParaRPr lang="en-IN" sz="2000">
              <a:latin typeface="Times New Roman" panose="02020603050405020304"/>
              <a:cs typeface="Times New Roman" panose="02020603050405020304"/>
            </a:endParaRPr>
          </a:p>
          <a:p>
            <a:pPr marL="457200" indent="-457200">
              <a:buAutoNum type="arabicPeriod"/>
            </a:pPr>
            <a:endParaRPr lang="en-IN" sz="2000">
              <a:latin typeface="Times New Roman" panose="02020603050405020304"/>
              <a:cs typeface="Times New Roman" panose="02020603050405020304"/>
            </a:endParaRPr>
          </a:p>
          <a:p>
            <a:pPr marL="457200" indent="-457200">
              <a:buAutoNum type="arabicPeriod"/>
            </a:pPr>
            <a:r>
              <a:rPr lang="en-IN" sz="2000" b="1">
                <a:latin typeface="Times New Roman" panose="02020603050405020304"/>
                <a:cs typeface="Times New Roman" panose="02020603050405020304"/>
              </a:rPr>
              <a:t>REVIEWS</a:t>
            </a:r>
            <a:r>
              <a:rPr lang="en-IN" sz="2000">
                <a:latin typeface="Times New Roman" panose="02020603050405020304"/>
                <a:cs typeface="Times New Roman" panose="02020603050405020304"/>
              </a:rPr>
              <a:t>(</a:t>
            </a:r>
            <a:r>
              <a:rPr lang="en-IN" sz="2000" err="1">
                <a:latin typeface="Times New Roman" panose="02020603050405020304"/>
                <a:cs typeface="Times New Roman" panose="02020603050405020304"/>
              </a:rPr>
              <a:t>review_id</a:t>
            </a:r>
            <a:r>
              <a:rPr lang="en-IN" sz="2000">
                <a:latin typeface="Times New Roman" panose="02020603050405020304"/>
                <a:cs typeface="Times New Roman" panose="02020603050405020304"/>
              </a:rPr>
              <a:t> PK, </a:t>
            </a:r>
            <a:r>
              <a:rPr lang="en-IN" sz="2000" err="1">
                <a:latin typeface="Times New Roman" panose="02020603050405020304"/>
                <a:cs typeface="Times New Roman" panose="02020603050405020304"/>
              </a:rPr>
              <a:t>customer_id</a:t>
            </a:r>
            <a:r>
              <a:rPr lang="en-IN" sz="2000">
                <a:latin typeface="Times New Roman" panose="02020603050405020304"/>
                <a:cs typeface="Times New Roman" panose="02020603050405020304"/>
              </a:rPr>
              <a:t> FK, </a:t>
            </a:r>
            <a:r>
              <a:rPr lang="en-IN" sz="2000" err="1">
                <a:latin typeface="Times New Roman" panose="02020603050405020304"/>
                <a:cs typeface="Times New Roman" panose="02020603050405020304"/>
              </a:rPr>
              <a:t>product_id</a:t>
            </a:r>
            <a:r>
              <a:rPr lang="en-IN" sz="2000">
                <a:latin typeface="Times New Roman" panose="02020603050405020304"/>
                <a:cs typeface="Times New Roman" panose="02020603050405020304"/>
              </a:rPr>
              <a:t> FK, rating, </a:t>
            </a:r>
            <a:r>
              <a:rPr lang="en-IN" sz="2000" err="1">
                <a:latin typeface="Times New Roman" panose="02020603050405020304"/>
                <a:cs typeface="Times New Roman" panose="02020603050405020304"/>
              </a:rPr>
              <a:t>review_text</a:t>
            </a:r>
            <a:r>
              <a:rPr lang="en-IN" sz="2000">
                <a:latin typeface="Times New Roman" panose="02020603050405020304"/>
                <a:cs typeface="Times New Roman" panose="02020603050405020304"/>
              </a:rPr>
              <a:t>, </a:t>
            </a:r>
            <a:r>
              <a:rPr lang="en-IN" sz="2000" err="1">
                <a:latin typeface="Times New Roman" panose="02020603050405020304"/>
                <a:cs typeface="Times New Roman" panose="02020603050405020304"/>
              </a:rPr>
              <a:t>review_date</a:t>
            </a:r>
            <a:r>
              <a:rPr lang="en-IN" sz="2000">
                <a:latin typeface="Times New Roman" panose="02020603050405020304"/>
                <a:cs typeface="Times New Roman" panose="02020603050405020304"/>
              </a:rPr>
              <a:t>)</a:t>
            </a:r>
            <a:endParaRPr lang="en-IN" sz="2000">
              <a:latin typeface="Times New Roman" panose="02020603050405020304"/>
              <a:cs typeface="Times New Roman" panose="02020603050405020304"/>
            </a:endParaRPr>
          </a:p>
          <a:p>
            <a:pPr marL="457200" indent="-457200">
              <a:buAutoNum type="arabicPeriod"/>
            </a:pPr>
            <a:endParaRPr lang="en-IN" sz="2000">
              <a:latin typeface="Times New Roman" panose="02020603050405020304"/>
              <a:cs typeface="Times New Roman" panose="02020603050405020304"/>
            </a:endParaRPr>
          </a:p>
          <a:p>
            <a:pPr marL="457200" indent="-457200">
              <a:buAutoNum type="arabicPeriod"/>
            </a:pPr>
            <a:r>
              <a:rPr lang="en-IN" sz="2000" b="1">
                <a:latin typeface="Times New Roman" panose="02020603050405020304"/>
                <a:cs typeface="Times New Roman" panose="02020603050405020304"/>
              </a:rPr>
              <a:t>USER_SESSIONS</a:t>
            </a:r>
            <a:r>
              <a:rPr lang="en-IN" sz="2000">
                <a:latin typeface="Times New Roman" panose="02020603050405020304"/>
                <a:cs typeface="Times New Roman" panose="02020603050405020304"/>
              </a:rPr>
              <a:t>(</a:t>
            </a:r>
            <a:r>
              <a:rPr lang="en-IN" sz="2000" err="1">
                <a:latin typeface="Times New Roman" panose="02020603050405020304"/>
                <a:cs typeface="Times New Roman" panose="02020603050405020304"/>
              </a:rPr>
              <a:t>session_id</a:t>
            </a:r>
            <a:r>
              <a:rPr lang="en-IN" sz="2000">
                <a:latin typeface="Times New Roman" panose="02020603050405020304"/>
                <a:cs typeface="Times New Roman" panose="02020603050405020304"/>
              </a:rPr>
              <a:t> PK, </a:t>
            </a:r>
            <a:r>
              <a:rPr lang="en-IN" sz="2000" err="1">
                <a:latin typeface="Times New Roman" panose="02020603050405020304"/>
                <a:cs typeface="Times New Roman" panose="02020603050405020304"/>
              </a:rPr>
              <a:t>customer_id</a:t>
            </a:r>
            <a:r>
              <a:rPr lang="en-IN" sz="2000">
                <a:latin typeface="Times New Roman" panose="02020603050405020304"/>
                <a:cs typeface="Times New Roman" panose="02020603050405020304"/>
              </a:rPr>
              <a:t> FK, </a:t>
            </a:r>
            <a:r>
              <a:rPr lang="en-IN" sz="2000" err="1">
                <a:latin typeface="Times New Roman" panose="02020603050405020304"/>
                <a:cs typeface="Times New Roman" panose="02020603050405020304"/>
              </a:rPr>
              <a:t>start_time</a:t>
            </a:r>
            <a:r>
              <a:rPr lang="en-IN" sz="2000">
                <a:latin typeface="Times New Roman" panose="02020603050405020304"/>
                <a:cs typeface="Times New Roman" panose="02020603050405020304"/>
              </a:rPr>
              <a:t>, </a:t>
            </a:r>
            <a:r>
              <a:rPr lang="en-IN" sz="2000" err="1">
                <a:latin typeface="Times New Roman" panose="02020603050405020304"/>
                <a:cs typeface="Times New Roman" panose="02020603050405020304"/>
              </a:rPr>
              <a:t>end_time</a:t>
            </a:r>
            <a:r>
              <a:rPr lang="en-IN" sz="2000">
                <a:latin typeface="Times New Roman" panose="02020603050405020304"/>
                <a:cs typeface="Times New Roman" panose="02020603050405020304"/>
              </a:rPr>
              <a:t>, </a:t>
            </a:r>
            <a:r>
              <a:rPr lang="en-IN" sz="2000" err="1">
                <a:latin typeface="Times New Roman" panose="02020603050405020304"/>
                <a:cs typeface="Times New Roman" panose="02020603050405020304"/>
              </a:rPr>
              <a:t>device_type</a:t>
            </a:r>
            <a:endParaRPr lang="en-IN" sz="2000">
              <a:latin typeface="Times New Roman" panose="02020603050405020304"/>
              <a:cs typeface="Times New Roman" panose="02020603050405020304"/>
            </a:endParaRPr>
          </a:p>
          <a:p>
            <a:pPr marL="457200" indent="-457200">
              <a:buAutoNum type="arabicPeriod"/>
            </a:pPr>
            <a:endParaRPr lang="en-IN" sz="2000">
              <a:latin typeface="Times New Roman" panose="02020603050405020304"/>
              <a:cs typeface="Times New Roman" panose="02020603050405020304"/>
            </a:endParaRPr>
          </a:p>
          <a:p>
            <a:pPr marL="457200" indent="-457200">
              <a:buAutoNum type="arabicPeriod"/>
            </a:pPr>
            <a:r>
              <a:rPr lang="en-IN" sz="2000" b="1">
                <a:latin typeface="Times New Roman" panose="02020603050405020304"/>
                <a:cs typeface="Times New Roman" panose="02020603050405020304"/>
              </a:rPr>
              <a:t>CART_EVENTS</a:t>
            </a:r>
            <a:r>
              <a:rPr lang="en-IN" sz="2000">
                <a:latin typeface="Times New Roman" panose="02020603050405020304"/>
                <a:cs typeface="Times New Roman" panose="02020603050405020304"/>
              </a:rPr>
              <a:t>(</a:t>
            </a:r>
            <a:r>
              <a:rPr lang="en-IN" sz="2000" err="1">
                <a:latin typeface="Times New Roman" panose="02020603050405020304"/>
                <a:cs typeface="Times New Roman" panose="02020603050405020304"/>
              </a:rPr>
              <a:t>event_id</a:t>
            </a:r>
            <a:r>
              <a:rPr lang="en-IN" sz="2000">
                <a:latin typeface="Times New Roman" panose="02020603050405020304"/>
                <a:cs typeface="Times New Roman" panose="02020603050405020304"/>
              </a:rPr>
              <a:t> PK, </a:t>
            </a:r>
            <a:r>
              <a:rPr lang="en-IN" sz="2000" err="1">
                <a:latin typeface="Times New Roman" panose="02020603050405020304"/>
                <a:cs typeface="Times New Roman" panose="02020603050405020304"/>
              </a:rPr>
              <a:t>customer_id</a:t>
            </a:r>
            <a:r>
              <a:rPr lang="en-IN" sz="2000">
                <a:latin typeface="Times New Roman" panose="02020603050405020304"/>
                <a:cs typeface="Times New Roman" panose="02020603050405020304"/>
              </a:rPr>
              <a:t> FK, </a:t>
            </a:r>
            <a:r>
              <a:rPr lang="en-IN" sz="2000" err="1">
                <a:latin typeface="Times New Roman" panose="02020603050405020304"/>
                <a:cs typeface="Times New Roman" panose="02020603050405020304"/>
              </a:rPr>
              <a:t>product_id</a:t>
            </a:r>
            <a:r>
              <a:rPr lang="en-IN" sz="2000">
                <a:latin typeface="Times New Roman" panose="02020603050405020304"/>
                <a:cs typeface="Times New Roman" panose="02020603050405020304"/>
              </a:rPr>
              <a:t> FK, </a:t>
            </a:r>
            <a:r>
              <a:rPr lang="en-IN" sz="2000" err="1">
                <a:latin typeface="Times New Roman" panose="02020603050405020304"/>
                <a:cs typeface="Times New Roman" panose="02020603050405020304"/>
              </a:rPr>
              <a:t>cart_id</a:t>
            </a:r>
            <a:r>
              <a:rPr lang="en-IN" sz="2000">
                <a:latin typeface="Times New Roman" panose="02020603050405020304"/>
                <a:cs typeface="Times New Roman" panose="02020603050405020304"/>
              </a:rPr>
              <a:t> FK, </a:t>
            </a:r>
            <a:r>
              <a:rPr lang="en-IN" sz="2000" err="1">
                <a:latin typeface="Times New Roman" panose="02020603050405020304"/>
                <a:cs typeface="Times New Roman" panose="02020603050405020304"/>
              </a:rPr>
              <a:t>event_type,event_timestamp</a:t>
            </a:r>
            <a:r>
              <a:rPr lang="en-IN" sz="2000">
                <a:latin typeface="Times New Roman" panose="02020603050405020304"/>
                <a:cs typeface="Times New Roman" panose="02020603050405020304"/>
              </a:rPr>
              <a:t>)</a:t>
            </a:r>
            <a:endParaRPr lang="en-IN" sz="2000">
              <a:latin typeface="Times New Roman" panose="02020603050405020304"/>
              <a:cs typeface="Times New Roman" panose="02020603050405020304"/>
            </a:endParaRPr>
          </a:p>
          <a:p>
            <a:pPr marL="457200" indent="-457200">
              <a:buAutoNum type="arabicPeriod"/>
            </a:pPr>
            <a:endParaRPr lang="en-IN" sz="2000">
              <a:latin typeface="Times New Roman" panose="02020603050405020304"/>
              <a:cs typeface="Times New Roman" panose="02020603050405020304"/>
            </a:endParaRPr>
          </a:p>
          <a:p>
            <a:pPr marL="457200" indent="-457200">
              <a:buAutoNum type="arabicPeriod"/>
            </a:pPr>
            <a:r>
              <a:rPr lang="en-IN" sz="2000" b="1">
                <a:latin typeface="Times New Roman" panose="02020603050405020304"/>
                <a:cs typeface="Times New Roman" panose="02020603050405020304"/>
              </a:rPr>
              <a:t>PRODUCT_VIEWS</a:t>
            </a:r>
            <a:r>
              <a:rPr lang="en-IN" sz="2000">
                <a:latin typeface="Times New Roman" panose="02020603050405020304"/>
                <a:cs typeface="Times New Roman" panose="02020603050405020304"/>
              </a:rPr>
              <a:t>(</a:t>
            </a:r>
            <a:r>
              <a:rPr lang="en-IN" sz="2000" err="1">
                <a:latin typeface="Times New Roman" panose="02020603050405020304"/>
                <a:cs typeface="Times New Roman" panose="02020603050405020304"/>
              </a:rPr>
              <a:t>view_id</a:t>
            </a:r>
            <a:r>
              <a:rPr lang="en-IN" sz="2000">
                <a:latin typeface="Times New Roman" panose="02020603050405020304"/>
                <a:cs typeface="Times New Roman" panose="02020603050405020304"/>
              </a:rPr>
              <a:t> PK, </a:t>
            </a:r>
            <a:r>
              <a:rPr lang="en-IN" sz="2000" err="1">
                <a:latin typeface="Times New Roman" panose="02020603050405020304"/>
                <a:cs typeface="Times New Roman" panose="02020603050405020304"/>
              </a:rPr>
              <a:t>customer_id</a:t>
            </a:r>
            <a:r>
              <a:rPr lang="en-IN" sz="2000">
                <a:latin typeface="Times New Roman" panose="02020603050405020304"/>
                <a:cs typeface="Times New Roman" panose="02020603050405020304"/>
              </a:rPr>
              <a:t> FK, </a:t>
            </a:r>
            <a:r>
              <a:rPr lang="en-IN" sz="2000" err="1">
                <a:latin typeface="Times New Roman" panose="02020603050405020304"/>
                <a:cs typeface="Times New Roman" panose="02020603050405020304"/>
              </a:rPr>
              <a:t>product_id</a:t>
            </a:r>
            <a:r>
              <a:rPr lang="en-IN" sz="2000">
                <a:latin typeface="Times New Roman" panose="02020603050405020304"/>
                <a:cs typeface="Times New Roman" panose="02020603050405020304"/>
              </a:rPr>
              <a:t> FK, </a:t>
            </a:r>
            <a:r>
              <a:rPr lang="en-IN" sz="2000" err="1">
                <a:latin typeface="Times New Roman" panose="02020603050405020304"/>
                <a:cs typeface="Times New Roman" panose="02020603050405020304"/>
              </a:rPr>
              <a:t>session_id</a:t>
            </a:r>
            <a:r>
              <a:rPr lang="en-IN" sz="2000">
                <a:latin typeface="Times New Roman" panose="02020603050405020304"/>
                <a:cs typeface="Times New Roman" panose="02020603050405020304"/>
              </a:rPr>
              <a:t> FK, </a:t>
            </a:r>
            <a:r>
              <a:rPr lang="en-IN" sz="2000" err="1">
                <a:latin typeface="Times New Roman" panose="02020603050405020304"/>
                <a:cs typeface="Times New Roman" panose="02020603050405020304"/>
              </a:rPr>
              <a:t>view_timestamp</a:t>
            </a:r>
            <a:r>
              <a:rPr lang="en-IN" sz="2000">
                <a:latin typeface="Times New Roman" panose="02020603050405020304"/>
                <a:cs typeface="Times New Roman" panose="02020603050405020304"/>
              </a:rPr>
              <a:t>)</a:t>
            </a:r>
            <a:endParaRPr lang="en-IN" sz="2000">
              <a:latin typeface="Times New Roman" panose="02020603050405020304"/>
              <a:cs typeface="Times New Roman" panose="02020603050405020304"/>
            </a:endParaRPr>
          </a:p>
          <a:p>
            <a:pPr marL="457200" indent="-457200">
              <a:buAutoNum type="arabicPeriod"/>
            </a:pPr>
            <a:endParaRPr lang="en-IN" sz="2000">
              <a:latin typeface="Times New Roman" panose="02020603050405020304"/>
              <a:cs typeface="Times New Roman" panose="02020603050405020304"/>
            </a:endParaRPr>
          </a:p>
          <a:p>
            <a:pPr marL="457200" indent="-457200">
              <a:buAutoNum type="arabicPeriod"/>
            </a:pPr>
            <a:r>
              <a:rPr lang="en-IN" sz="2000" b="1">
                <a:latin typeface="Times New Roman" panose="02020603050405020304"/>
                <a:cs typeface="Times New Roman" panose="02020603050405020304"/>
              </a:rPr>
              <a:t>USER_SESSIONS</a:t>
            </a:r>
            <a:r>
              <a:rPr lang="en-IN" sz="2000">
                <a:latin typeface="Times New Roman" panose="02020603050405020304"/>
                <a:cs typeface="Times New Roman" panose="02020603050405020304"/>
              </a:rPr>
              <a:t>(</a:t>
            </a:r>
            <a:r>
              <a:rPr lang="en-IN" sz="2000" err="1">
                <a:latin typeface="Times New Roman" panose="02020603050405020304"/>
                <a:cs typeface="Times New Roman" panose="02020603050405020304"/>
              </a:rPr>
              <a:t>session_id</a:t>
            </a:r>
            <a:r>
              <a:rPr lang="en-IN" sz="2000">
                <a:latin typeface="Times New Roman" panose="02020603050405020304"/>
                <a:cs typeface="Times New Roman" panose="02020603050405020304"/>
              </a:rPr>
              <a:t> PK, </a:t>
            </a:r>
            <a:r>
              <a:rPr lang="en-IN" sz="2000" err="1">
                <a:latin typeface="Times New Roman" panose="02020603050405020304"/>
                <a:cs typeface="Times New Roman" panose="02020603050405020304"/>
              </a:rPr>
              <a:t>customer_id</a:t>
            </a:r>
            <a:r>
              <a:rPr lang="en-IN" sz="2000">
                <a:latin typeface="Times New Roman" panose="02020603050405020304"/>
                <a:cs typeface="Times New Roman" panose="02020603050405020304"/>
              </a:rPr>
              <a:t> FK, </a:t>
            </a:r>
            <a:r>
              <a:rPr lang="en-IN" sz="2000" err="1">
                <a:latin typeface="Times New Roman" panose="02020603050405020304"/>
                <a:cs typeface="Times New Roman" panose="02020603050405020304"/>
              </a:rPr>
              <a:t>start_time</a:t>
            </a:r>
            <a:r>
              <a:rPr lang="en-IN" sz="2000">
                <a:latin typeface="Times New Roman" panose="02020603050405020304"/>
                <a:cs typeface="Times New Roman" panose="02020603050405020304"/>
              </a:rPr>
              <a:t>, </a:t>
            </a:r>
            <a:r>
              <a:rPr lang="en-IN" sz="2000" err="1">
                <a:latin typeface="Times New Roman" panose="02020603050405020304"/>
                <a:cs typeface="Times New Roman" panose="02020603050405020304"/>
              </a:rPr>
              <a:t>end_time</a:t>
            </a:r>
            <a:r>
              <a:rPr lang="en-IN" sz="2000">
                <a:latin typeface="Times New Roman" panose="02020603050405020304"/>
                <a:cs typeface="Times New Roman" panose="02020603050405020304"/>
              </a:rPr>
              <a:t>, </a:t>
            </a:r>
            <a:r>
              <a:rPr lang="en-IN" sz="2000" err="1">
                <a:latin typeface="Times New Roman" panose="02020603050405020304"/>
                <a:cs typeface="Times New Roman" panose="02020603050405020304"/>
              </a:rPr>
              <a:t>device_type</a:t>
            </a:r>
            <a:r>
              <a:rPr lang="en-IN" sz="2000">
                <a:latin typeface="Times New Roman" panose="02020603050405020304"/>
                <a:cs typeface="Times New Roman" panose="02020603050405020304"/>
              </a:rPr>
              <a:t>)</a:t>
            </a:r>
            <a:endParaRPr lang="en-IN" sz="2000">
              <a:latin typeface="Times New Roman" panose="02020603050405020304"/>
              <a:cs typeface="Times New Roman" panose="02020603050405020304"/>
            </a:endParaRPr>
          </a:p>
          <a:p>
            <a:pPr marL="457200" indent="-457200">
              <a:buAutoNum type="arabicPeriod"/>
            </a:pPr>
            <a:endParaRPr lang="en-IN" sz="2000">
              <a:latin typeface="Times New Roman" panose="02020603050405020304"/>
              <a:cs typeface="Times New Roman" panose="02020603050405020304"/>
            </a:endParaRPr>
          </a:p>
          <a:p>
            <a:pPr marL="457200" indent="-457200">
              <a:buAutoNum type="arabicPeriod"/>
            </a:pPr>
            <a:r>
              <a:rPr lang="en-IN" sz="2000" b="1" err="1">
                <a:latin typeface="Times New Roman" panose="02020603050405020304"/>
                <a:cs typeface="Times New Roman" panose="02020603050405020304"/>
              </a:rPr>
              <a:t>Funnel_Events</a:t>
            </a:r>
            <a:r>
              <a:rPr lang="en-IN" sz="2000" b="1">
                <a:latin typeface="Times New Roman" panose="02020603050405020304"/>
                <a:cs typeface="Times New Roman" panose="02020603050405020304"/>
              </a:rPr>
              <a:t>(</a:t>
            </a:r>
            <a:r>
              <a:rPr lang="en-IN" sz="2000" err="1">
                <a:latin typeface="Times New Roman" panose="02020603050405020304"/>
                <a:cs typeface="Times New Roman" panose="02020603050405020304"/>
              </a:rPr>
              <a:t>event_id</a:t>
            </a:r>
            <a:r>
              <a:rPr lang="en-IN" sz="2000">
                <a:latin typeface="Times New Roman" panose="02020603050405020304"/>
                <a:cs typeface="Times New Roman" panose="02020603050405020304"/>
              </a:rPr>
              <a:t> (PK),</a:t>
            </a:r>
            <a:r>
              <a:rPr lang="en-IN" sz="2000" err="1">
                <a:latin typeface="Times New Roman" panose="02020603050405020304"/>
                <a:cs typeface="Times New Roman" panose="02020603050405020304"/>
              </a:rPr>
              <a:t>customer_id</a:t>
            </a:r>
            <a:r>
              <a:rPr lang="en-IN" sz="2000">
                <a:latin typeface="Times New Roman" panose="02020603050405020304"/>
                <a:cs typeface="Times New Roman" panose="02020603050405020304"/>
              </a:rPr>
              <a:t> (FK → Customers),</a:t>
            </a:r>
            <a:r>
              <a:rPr lang="en-IN" sz="2000" err="1">
                <a:latin typeface="Times New Roman" panose="02020603050405020304"/>
                <a:cs typeface="Times New Roman" panose="02020603050405020304"/>
              </a:rPr>
              <a:t>session_id</a:t>
            </a:r>
            <a:r>
              <a:rPr lang="en-IN" sz="2000">
                <a:latin typeface="Times New Roman" panose="02020603050405020304"/>
                <a:cs typeface="Times New Roman" panose="02020603050405020304"/>
              </a:rPr>
              <a:t> (FK → </a:t>
            </a:r>
            <a:r>
              <a:rPr lang="en-IN" sz="2000" err="1">
                <a:latin typeface="Times New Roman" panose="02020603050405020304"/>
                <a:cs typeface="Times New Roman" panose="02020603050405020304"/>
              </a:rPr>
              <a:t>User_Sessions</a:t>
            </a:r>
            <a:r>
              <a:rPr lang="en-IN" sz="2000">
                <a:latin typeface="Times New Roman" panose="02020603050405020304"/>
                <a:cs typeface="Times New Roman" panose="02020603050405020304"/>
              </a:rPr>
              <a:t>),</a:t>
            </a:r>
            <a:r>
              <a:rPr lang="en-IN" sz="2000" err="1">
                <a:latin typeface="Times New Roman" panose="02020603050405020304"/>
                <a:cs typeface="Times New Roman" panose="02020603050405020304"/>
              </a:rPr>
              <a:t>product_id</a:t>
            </a:r>
            <a:r>
              <a:rPr lang="en-IN" sz="2000">
                <a:latin typeface="Times New Roman" panose="02020603050405020304"/>
                <a:cs typeface="Times New Roman" panose="02020603050405020304"/>
              </a:rPr>
              <a:t> (FK → Products),</a:t>
            </a:r>
            <a:r>
              <a:rPr lang="en-IN" sz="2000" err="1">
                <a:latin typeface="Times New Roman" panose="02020603050405020304"/>
                <a:cs typeface="Times New Roman" panose="02020603050405020304"/>
              </a:rPr>
              <a:t>event_stage</a:t>
            </a:r>
            <a:r>
              <a:rPr lang="en-IN" sz="2000">
                <a:latin typeface="Times New Roman" panose="02020603050405020304"/>
                <a:cs typeface="Times New Roman" panose="02020603050405020304"/>
              </a:rPr>
              <a:t>, </a:t>
            </a:r>
            <a:r>
              <a:rPr lang="en-IN" sz="2000" err="1">
                <a:latin typeface="Times New Roman" panose="02020603050405020304"/>
                <a:cs typeface="Times New Roman" panose="02020603050405020304"/>
              </a:rPr>
              <a:t>event_timestamp,order_id</a:t>
            </a:r>
            <a:r>
              <a:rPr lang="en-IN" sz="2000">
                <a:latin typeface="Times New Roman" panose="02020603050405020304"/>
                <a:cs typeface="Times New Roman" panose="02020603050405020304"/>
              </a:rPr>
              <a:t> (FK → Orders)</a:t>
            </a:r>
            <a:endParaRPr lang="en-US" sz="2000">
              <a:latin typeface="Times New Roman" panose="02020603050405020304"/>
              <a:cs typeface="Times New Roman" panose="02020603050405020304"/>
            </a:endParaRPr>
          </a:p>
          <a:p>
            <a:pPr marL="457200" indent="-457200">
              <a:buAutoNum type="arabicPeriod"/>
            </a:pPr>
            <a:endParaRPr lang="en-IN" sz="2000" b="1">
              <a:latin typeface="Times New Roman" panose="02020603050405020304"/>
              <a:cs typeface="Times New Roman" panose="020206030504050203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904240" y="685800"/>
            <a:ext cx="10697845" cy="588264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914400" y="685800"/>
            <a:ext cx="10299065" cy="57277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762000" y="1371600"/>
            <a:ext cx="10810240" cy="417893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28676" y="110"/>
            <a:ext cx="6093500" cy="579967"/>
          </a:xfrm>
          <a:prstGeom prst="rect">
            <a:avLst/>
          </a:prstGeom>
          <a:noFill/>
        </p:spPr>
        <p:txBody>
          <a:bodyPr wrap="square">
            <a:spAutoFit/>
          </a:bodyPr>
          <a:lstStyle/>
          <a:p>
            <a:pPr>
              <a:lnSpc>
                <a:spcPct val="150000"/>
              </a:lnSpc>
            </a:pPr>
            <a:r>
              <a:rPr lang="en-US" sz="2400" b="1">
                <a:latin typeface="Times New Roman" panose="02020603050405020304" pitchFamily="18" charset="0"/>
                <a:cs typeface="Times New Roman" panose="02020603050405020304" pitchFamily="18" charset="0"/>
              </a:rPr>
              <a:t>Functional Blocks / Modules</a:t>
            </a:r>
            <a:endParaRPr lang="en-US" sz="2400" b="1">
              <a:latin typeface="Times New Roman" panose="02020603050405020304" pitchFamily="18" charset="0"/>
              <a:cs typeface="Times New Roman" panose="02020603050405020304" pitchFamily="18" charset="0"/>
            </a:endParaRPr>
          </a:p>
        </p:txBody>
      </p:sp>
      <p:sp>
        <p:nvSpPr>
          <p:cNvPr id="2" name="TextBox 1"/>
          <p:cNvSpPr txBox="1"/>
          <p:nvPr/>
        </p:nvSpPr>
        <p:spPr>
          <a:xfrm>
            <a:off x="464694" y="579967"/>
            <a:ext cx="5406887" cy="6463308"/>
          </a:xfrm>
          <a:prstGeom prst="rect">
            <a:avLst/>
          </a:prstGeom>
          <a:noFill/>
        </p:spPr>
        <p:txBody>
          <a:bodyPr wrap="square" rtlCol="0">
            <a:spAutoFit/>
          </a:bodyPr>
          <a:lstStyle/>
          <a:p>
            <a:pPr marL="457200" indent="-457200">
              <a:buAutoNum type="arabicPeriod"/>
            </a:pPr>
            <a:r>
              <a:rPr lang="en-IN" sz="2200" b="1">
                <a:latin typeface="Baskerville Old Face" panose="02020602080505020303" pitchFamily="18" charset="0"/>
              </a:rPr>
              <a:t>User Management </a:t>
            </a:r>
            <a:endParaRPr lang="en-IN" sz="2200" b="1">
              <a:latin typeface="Baskerville Old Face" panose="02020602080505020303" pitchFamily="18" charset="0"/>
            </a:endParaRPr>
          </a:p>
          <a:p>
            <a:pPr marL="342900" indent="-342900">
              <a:buFont typeface="Arial" panose="020B0604020202020204" pitchFamily="34" charset="0"/>
              <a:buChar char="•"/>
            </a:pPr>
            <a:r>
              <a:rPr lang="en-IN" sz="2200">
                <a:latin typeface="Baskerville Old Face" panose="02020602080505020303" pitchFamily="18" charset="0"/>
              </a:rPr>
              <a:t>Handles registration and login for Customer, Seller, and Admin</a:t>
            </a:r>
            <a:endParaRPr lang="en-IN" sz="2200">
              <a:latin typeface="Baskerville Old Face" panose="02020602080505020303" pitchFamily="18" charset="0"/>
            </a:endParaRPr>
          </a:p>
          <a:p>
            <a:pPr marL="342900" lvl="0" indent="-342900">
              <a:buFont typeface="Arial" panose="020B0604020202020204" pitchFamily="34" charset="0"/>
              <a:buChar char="•"/>
            </a:pPr>
            <a:r>
              <a:rPr lang="en-IN" sz="2200">
                <a:latin typeface="Baskerville Old Face" panose="02020602080505020303" pitchFamily="18" charset="0"/>
              </a:rPr>
              <a:t>Manages user profiles</a:t>
            </a:r>
            <a:endParaRPr lang="en-IN" sz="2200">
              <a:latin typeface="Baskerville Old Face" panose="02020602080505020303" pitchFamily="18" charset="0"/>
            </a:endParaRPr>
          </a:p>
          <a:p>
            <a:pPr lvl="0"/>
            <a:endParaRPr lang="en-IN" sz="2200">
              <a:latin typeface="Baskerville Old Face" panose="02020602080505020303" pitchFamily="18" charset="0"/>
            </a:endParaRPr>
          </a:p>
          <a:p>
            <a:r>
              <a:rPr lang="en-IN" sz="2200" b="1">
                <a:latin typeface="Baskerville Old Face" panose="02020602080505020303" pitchFamily="18" charset="0"/>
              </a:rPr>
              <a:t>2. Product Management </a:t>
            </a:r>
            <a:endParaRPr lang="en-IN" sz="2200">
              <a:latin typeface="Baskerville Old Face" panose="02020602080505020303" pitchFamily="18" charset="0"/>
            </a:endParaRPr>
          </a:p>
          <a:p>
            <a:pPr marL="342900" lvl="0" indent="-342900">
              <a:buFont typeface="Arial" panose="020B0604020202020204" pitchFamily="34" charset="0"/>
              <a:buChar char="•"/>
            </a:pPr>
            <a:r>
              <a:rPr lang="en-IN" sz="2200">
                <a:latin typeface="Baskerville Old Face" panose="02020602080505020303" pitchFamily="18" charset="0"/>
              </a:rPr>
              <a:t>Sellers can add, update, and delete products</a:t>
            </a:r>
            <a:endParaRPr lang="en-IN" sz="2200">
              <a:latin typeface="Baskerville Old Face" panose="02020602080505020303" pitchFamily="18" charset="0"/>
            </a:endParaRPr>
          </a:p>
          <a:p>
            <a:pPr marL="342900" lvl="0" indent="-342900">
              <a:buFont typeface="Arial" panose="020B0604020202020204" pitchFamily="34" charset="0"/>
              <a:buChar char="•"/>
            </a:pPr>
            <a:r>
              <a:rPr lang="en-IN" sz="2200">
                <a:latin typeface="Baskerville Old Face" panose="02020602080505020303" pitchFamily="18" charset="0"/>
              </a:rPr>
              <a:t>Customers can browse and search products</a:t>
            </a:r>
            <a:endParaRPr lang="en-IN" sz="2200">
              <a:latin typeface="Baskerville Old Face" panose="02020602080505020303" pitchFamily="18" charset="0"/>
            </a:endParaRPr>
          </a:p>
          <a:p>
            <a:pPr lvl="0"/>
            <a:endParaRPr lang="en-IN" sz="2200">
              <a:latin typeface="Baskerville Old Face" panose="02020602080505020303" pitchFamily="18" charset="0"/>
            </a:endParaRPr>
          </a:p>
          <a:p>
            <a:r>
              <a:rPr lang="en-IN" sz="2200" b="1">
                <a:latin typeface="Baskerville Old Face" panose="02020602080505020303" pitchFamily="18" charset="0"/>
              </a:rPr>
              <a:t>3. Cart </a:t>
            </a:r>
            <a:endParaRPr lang="en-IN" sz="2200">
              <a:latin typeface="Baskerville Old Face" panose="02020602080505020303" pitchFamily="18" charset="0"/>
            </a:endParaRPr>
          </a:p>
          <a:p>
            <a:pPr marL="342900" lvl="0" indent="-342900">
              <a:buFont typeface="Arial" panose="020B0604020202020204" pitchFamily="34" charset="0"/>
              <a:buChar char="•"/>
            </a:pPr>
            <a:r>
              <a:rPr lang="en-IN" sz="2200">
                <a:latin typeface="Baskerville Old Face" panose="02020602080505020303" pitchFamily="18" charset="0"/>
              </a:rPr>
              <a:t>Customers can add, update, and remove items from cart</a:t>
            </a:r>
            <a:endParaRPr lang="en-IN" sz="2200">
              <a:latin typeface="Baskerville Old Face" panose="02020602080505020303" pitchFamily="18" charset="0"/>
            </a:endParaRPr>
          </a:p>
          <a:p>
            <a:pPr marL="342900" lvl="0" indent="-342900">
              <a:buFont typeface="Arial" panose="020B0604020202020204" pitchFamily="34" charset="0"/>
              <a:buChar char="•"/>
            </a:pPr>
            <a:r>
              <a:rPr lang="en-IN" sz="2200">
                <a:latin typeface="Baskerville Old Face" panose="02020602080505020303" pitchFamily="18" charset="0"/>
              </a:rPr>
              <a:t>Tracks cart events for funnel analysis</a:t>
            </a:r>
            <a:endParaRPr lang="en-IN" sz="2200">
              <a:latin typeface="Baskerville Old Face" panose="02020602080505020303" pitchFamily="18" charset="0"/>
            </a:endParaRPr>
          </a:p>
          <a:p>
            <a:pPr lvl="0"/>
            <a:endParaRPr lang="en-IN" sz="2200">
              <a:latin typeface="Baskerville Old Face" panose="02020602080505020303" pitchFamily="18" charset="0"/>
            </a:endParaRPr>
          </a:p>
          <a:p>
            <a:r>
              <a:rPr lang="en-IN" sz="2200" b="1">
                <a:latin typeface="Baskerville Old Face" panose="02020602080505020303" pitchFamily="18" charset="0"/>
              </a:rPr>
              <a:t>4. Order &amp; Payment</a:t>
            </a:r>
            <a:endParaRPr lang="en-IN" sz="2200">
              <a:latin typeface="Baskerville Old Face" panose="02020602080505020303" pitchFamily="18" charset="0"/>
            </a:endParaRPr>
          </a:p>
          <a:p>
            <a:pPr marL="342900" lvl="0" indent="-342900">
              <a:buFont typeface="Arial" panose="020B0604020202020204" pitchFamily="34" charset="0"/>
              <a:buChar char="•"/>
            </a:pPr>
            <a:r>
              <a:rPr lang="en-IN" sz="2200">
                <a:latin typeface="Baskerville Old Face" panose="02020602080505020303" pitchFamily="18" charset="0"/>
              </a:rPr>
              <a:t>Customers place orders</a:t>
            </a:r>
            <a:endParaRPr lang="en-IN" sz="2200">
              <a:latin typeface="Baskerville Old Face" panose="02020602080505020303" pitchFamily="18" charset="0"/>
            </a:endParaRPr>
          </a:p>
          <a:p>
            <a:pPr marL="342900" lvl="0" indent="-342900">
              <a:buFont typeface="Arial" panose="020B0604020202020204" pitchFamily="34" charset="0"/>
              <a:buChar char="•"/>
            </a:pPr>
            <a:r>
              <a:rPr lang="en-IN" sz="2200">
                <a:latin typeface="Baskerville Old Face" panose="02020602080505020303" pitchFamily="18" charset="0"/>
              </a:rPr>
              <a:t>Handles payment processing</a:t>
            </a:r>
            <a:endParaRPr lang="en-IN" sz="2200">
              <a:latin typeface="Baskerville Old Face" panose="02020602080505020303" pitchFamily="18" charset="0"/>
            </a:endParaRPr>
          </a:p>
          <a:p>
            <a:pPr marL="342900" lvl="0" indent="-342900">
              <a:buFont typeface="Arial" panose="020B0604020202020204" pitchFamily="34" charset="0"/>
              <a:buChar char="•"/>
            </a:pPr>
            <a:r>
              <a:rPr lang="en-IN" sz="2200">
                <a:latin typeface="Baskerville Old Face" panose="02020602080505020303" pitchFamily="18" charset="0"/>
              </a:rPr>
              <a:t>Updates order status</a:t>
            </a:r>
            <a:endParaRPr lang="en-IN" sz="2200">
              <a:latin typeface="Baskerville Old Face" panose="02020602080505020303" pitchFamily="18" charset="0"/>
            </a:endParaRPr>
          </a:p>
          <a:p>
            <a:endParaRPr lang="en-IN"/>
          </a:p>
        </p:txBody>
      </p:sp>
      <p:sp>
        <p:nvSpPr>
          <p:cNvPr id="3" name="TextBox 2"/>
          <p:cNvSpPr txBox="1"/>
          <p:nvPr/>
        </p:nvSpPr>
        <p:spPr>
          <a:xfrm>
            <a:off x="6322352" y="685744"/>
            <a:ext cx="5208104" cy="5447645"/>
          </a:xfrm>
          <a:prstGeom prst="rect">
            <a:avLst/>
          </a:prstGeom>
          <a:noFill/>
        </p:spPr>
        <p:txBody>
          <a:bodyPr wrap="square" rtlCol="0">
            <a:spAutoFit/>
          </a:bodyPr>
          <a:lstStyle/>
          <a:p>
            <a:r>
              <a:rPr lang="en-IN" sz="2200" b="1">
                <a:latin typeface="Baskerville Old Face" panose="02020602080505020303" pitchFamily="18" charset="0"/>
              </a:rPr>
              <a:t>5. Review Module</a:t>
            </a:r>
            <a:endParaRPr lang="en-IN" sz="2200">
              <a:latin typeface="Baskerville Old Face" panose="02020602080505020303" pitchFamily="18" charset="0"/>
            </a:endParaRPr>
          </a:p>
          <a:p>
            <a:pPr marL="342900" lvl="0" indent="-342900">
              <a:buFont typeface="Arial" panose="020B0604020202020204" pitchFamily="34" charset="0"/>
              <a:buChar char="•"/>
            </a:pPr>
            <a:r>
              <a:rPr lang="en-IN" sz="2200">
                <a:latin typeface="Baskerville Old Face" panose="02020602080505020303" pitchFamily="18" charset="0"/>
              </a:rPr>
              <a:t>Customers submit ratings and reviews for products</a:t>
            </a:r>
            <a:endParaRPr lang="en-IN" sz="2200">
              <a:latin typeface="Baskerville Old Face" panose="02020602080505020303" pitchFamily="18" charset="0"/>
            </a:endParaRPr>
          </a:p>
          <a:p>
            <a:pPr lvl="0"/>
            <a:endParaRPr lang="en-IN" sz="2200">
              <a:latin typeface="Baskerville Old Face" panose="02020602080505020303" pitchFamily="18" charset="0"/>
            </a:endParaRPr>
          </a:p>
          <a:p>
            <a:r>
              <a:rPr lang="en-IN" sz="2200" b="1">
                <a:latin typeface="Baskerville Old Face" panose="02020602080505020303" pitchFamily="18" charset="0"/>
              </a:rPr>
              <a:t>6. Analytics &amp; Funnel Module</a:t>
            </a:r>
            <a:endParaRPr lang="en-IN" sz="2200">
              <a:latin typeface="Baskerville Old Face" panose="02020602080505020303" pitchFamily="18" charset="0"/>
            </a:endParaRPr>
          </a:p>
          <a:p>
            <a:pPr marL="342900" lvl="0" indent="-342900">
              <a:buFont typeface="Arial" panose="020B0604020202020204" pitchFamily="34" charset="0"/>
              <a:buChar char="•"/>
            </a:pPr>
            <a:r>
              <a:rPr lang="en-IN" sz="2200">
                <a:latin typeface="Baskerville Old Face" panose="02020602080505020303" pitchFamily="18" charset="0"/>
              </a:rPr>
              <a:t>Tracks customer journey (views, cart events, orders, payments, reviews)</a:t>
            </a:r>
            <a:endParaRPr lang="en-IN" sz="2200">
              <a:latin typeface="Baskerville Old Face" panose="02020602080505020303" pitchFamily="18" charset="0"/>
            </a:endParaRPr>
          </a:p>
          <a:p>
            <a:pPr marL="342900" lvl="0" indent="-342900">
              <a:buFont typeface="Arial" panose="020B0604020202020204" pitchFamily="34" charset="0"/>
              <a:buChar char="•"/>
            </a:pPr>
            <a:r>
              <a:rPr lang="en-IN" sz="2200">
                <a:latin typeface="Baskerville Old Face" panose="02020602080505020303" pitchFamily="18" charset="0"/>
              </a:rPr>
              <a:t>Generates purchase funnel analysis</a:t>
            </a:r>
            <a:endParaRPr lang="en-IN" sz="2200">
              <a:latin typeface="Baskerville Old Face" panose="02020602080505020303" pitchFamily="18" charset="0"/>
            </a:endParaRPr>
          </a:p>
          <a:p>
            <a:pPr marL="342900" lvl="0" indent="-342900">
              <a:buFont typeface="Arial" panose="020B0604020202020204" pitchFamily="34" charset="0"/>
              <a:buChar char="•"/>
            </a:pPr>
            <a:r>
              <a:rPr lang="en-IN" sz="2200">
                <a:latin typeface="Baskerville Old Face" panose="02020602080505020303" pitchFamily="18" charset="0"/>
              </a:rPr>
              <a:t>Provides dashboards for Admin and Sellers</a:t>
            </a:r>
            <a:endParaRPr lang="en-IN" sz="2200">
              <a:latin typeface="Baskerville Old Face" panose="02020602080505020303" pitchFamily="18" charset="0"/>
            </a:endParaRPr>
          </a:p>
          <a:p>
            <a:pPr lvl="0"/>
            <a:endParaRPr lang="en-IN" sz="2200">
              <a:latin typeface="Baskerville Old Face" panose="02020602080505020303" pitchFamily="18" charset="0"/>
            </a:endParaRPr>
          </a:p>
          <a:p>
            <a:r>
              <a:rPr lang="en-IN" sz="2200" b="1">
                <a:latin typeface="Baskerville Old Face" panose="02020602080505020303" pitchFamily="18" charset="0"/>
              </a:rPr>
              <a:t>7. Admin Dashboard Module</a:t>
            </a:r>
            <a:endParaRPr lang="en-IN" sz="2200">
              <a:latin typeface="Baskerville Old Face" panose="02020602080505020303" pitchFamily="18" charset="0"/>
            </a:endParaRPr>
          </a:p>
          <a:p>
            <a:pPr marL="342900" lvl="0" indent="-342900">
              <a:buFont typeface="Arial" panose="020B0604020202020204" pitchFamily="34" charset="0"/>
              <a:buChar char="•"/>
            </a:pPr>
            <a:r>
              <a:rPr lang="en-IN" sz="2200">
                <a:latin typeface="Baskerville Old Face" panose="02020602080505020303" pitchFamily="18" charset="0"/>
              </a:rPr>
              <a:t>Monitors overall platform performance</a:t>
            </a:r>
            <a:endParaRPr lang="en-IN" sz="2200">
              <a:latin typeface="Baskerville Old Face" panose="02020602080505020303" pitchFamily="18" charset="0"/>
            </a:endParaRPr>
          </a:p>
          <a:p>
            <a:pPr marL="342900" lvl="0" indent="-342900">
              <a:buFont typeface="Arial" panose="020B0604020202020204" pitchFamily="34" charset="0"/>
              <a:buChar char="•"/>
            </a:pPr>
            <a:r>
              <a:rPr lang="en-IN" sz="2200">
                <a:latin typeface="Baskerville Old Face" panose="02020602080505020303" pitchFamily="18" charset="0"/>
              </a:rPr>
              <a:t>Views sales, revenue, customer </a:t>
            </a:r>
            <a:r>
              <a:rPr lang="en-IN" sz="2200" err="1">
                <a:latin typeface="Baskerville Old Face" panose="02020602080505020303" pitchFamily="18" charset="0"/>
              </a:rPr>
              <a:t>behavior</a:t>
            </a:r>
            <a:r>
              <a:rPr lang="en-IN" sz="2200">
                <a:latin typeface="Baskerville Old Face" panose="02020602080505020303" pitchFamily="18" charset="0"/>
              </a:rPr>
              <a:t>, and seller performance</a:t>
            </a:r>
            <a:endParaRPr lang="en-IN" sz="2200">
              <a:latin typeface="Baskerville Old Face" panose="02020602080505020303" pitchFamily="18" charset="0"/>
            </a:endParaRPr>
          </a:p>
          <a:p>
            <a:endParaRPr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9149" y="188844"/>
            <a:ext cx="2604051" cy="523220"/>
          </a:xfrm>
          <a:prstGeom prst="rect">
            <a:avLst/>
          </a:prstGeom>
          <a:noFill/>
        </p:spPr>
        <p:txBody>
          <a:bodyPr wrap="square" rtlCol="0">
            <a:spAutoFit/>
          </a:bodyPr>
          <a:lstStyle/>
          <a:p>
            <a:r>
              <a:rPr lang="en-IN" sz="2800">
                <a:latin typeface="Baskerville Old Face" panose="02020602080505020303" pitchFamily="18" charset="0"/>
              </a:rPr>
              <a:t> </a:t>
            </a:r>
            <a:r>
              <a:rPr lang="en-IN" sz="2800" b="1">
                <a:latin typeface="Baskerville Old Face" panose="02020602080505020303" pitchFamily="18" charset="0"/>
              </a:rPr>
              <a:t>Funnel Analysis</a:t>
            </a:r>
            <a:endParaRPr lang="en-IN" sz="2800" b="1">
              <a:latin typeface="Baskerville Old Face" panose="02020602080505020303" pitchFamily="18" charset="0"/>
            </a:endParaRPr>
          </a:p>
        </p:txBody>
      </p:sp>
      <p:sp>
        <p:nvSpPr>
          <p:cNvPr id="3" name="TextBox 2"/>
          <p:cNvSpPr txBox="1"/>
          <p:nvPr/>
        </p:nvSpPr>
        <p:spPr>
          <a:xfrm>
            <a:off x="1239077" y="627420"/>
            <a:ext cx="10813774" cy="6217087"/>
          </a:xfrm>
          <a:prstGeom prst="rect">
            <a:avLst/>
          </a:prstGeom>
          <a:noFill/>
        </p:spPr>
        <p:txBody>
          <a:bodyPr wrap="square" lIns="91440" tIns="45720" rIns="91440" bIns="45720" rtlCol="0" anchor="t">
            <a:spAutoFit/>
          </a:bodyPr>
          <a:lstStyle/>
          <a:p>
            <a:r>
              <a:rPr lang="en-IN" sz="2200">
                <a:latin typeface="Baskerville Old Face" panose="02020602080505020303" pitchFamily="18" charset="0"/>
              </a:rPr>
              <a:t>The funnel tracks the customer journey in these stages:</a:t>
            </a:r>
            <a:endParaRPr lang="en-IN" sz="2200">
              <a:latin typeface="Baskerville Old Face" panose="02020602080505020303" pitchFamily="18" charset="0"/>
            </a:endParaRPr>
          </a:p>
          <a:p>
            <a:pPr marL="457200" lvl="0" indent="-457200">
              <a:buFont typeface="+mj-lt"/>
              <a:buAutoNum type="arabicPeriod"/>
            </a:pPr>
            <a:r>
              <a:rPr lang="en-IN" sz="2200" b="1">
                <a:latin typeface="Baskerville Old Face" panose="02020602080505020303" pitchFamily="18" charset="0"/>
              </a:rPr>
              <a:t>Product View</a:t>
            </a:r>
            <a:endParaRPr lang="en-IN" sz="2200">
              <a:latin typeface="Baskerville Old Face" panose="02020602080505020303" pitchFamily="18" charset="0"/>
            </a:endParaRPr>
          </a:p>
          <a:p>
            <a:pPr marL="457200" lvl="0" indent="-457200">
              <a:buFont typeface="+mj-lt"/>
              <a:buAutoNum type="arabicPeriod"/>
            </a:pPr>
            <a:r>
              <a:rPr lang="en-IN" sz="2200" b="1">
                <a:latin typeface="Baskerville Old Face" panose="02020602080505020303" pitchFamily="18" charset="0"/>
              </a:rPr>
              <a:t>Add to Cart</a:t>
            </a:r>
            <a:endParaRPr lang="en-IN" sz="2200">
              <a:latin typeface="Baskerville Old Face" panose="02020602080505020303" pitchFamily="18" charset="0"/>
            </a:endParaRPr>
          </a:p>
          <a:p>
            <a:pPr marL="457200" lvl="0" indent="-457200">
              <a:buFont typeface="+mj-lt"/>
              <a:buAutoNum type="arabicPeriod"/>
            </a:pPr>
            <a:r>
              <a:rPr lang="en-IN" sz="2200" b="1">
                <a:latin typeface="Baskerville Old Face" panose="02020602080505020303" pitchFamily="18" charset="0"/>
              </a:rPr>
              <a:t>Place Order</a:t>
            </a:r>
            <a:endParaRPr lang="en-IN" sz="2200">
              <a:latin typeface="Baskerville Old Face" panose="02020602080505020303" pitchFamily="18" charset="0"/>
            </a:endParaRPr>
          </a:p>
          <a:p>
            <a:pPr marL="457200" lvl="0" indent="-457200">
              <a:buFont typeface="+mj-lt"/>
              <a:buAutoNum type="arabicPeriod"/>
            </a:pPr>
            <a:r>
              <a:rPr lang="en-IN" sz="2200" b="1">
                <a:latin typeface="Baskerville Old Face" panose="02020602080505020303" pitchFamily="18" charset="0"/>
              </a:rPr>
              <a:t>Make Payment</a:t>
            </a:r>
            <a:endParaRPr lang="en-IN" sz="2200">
              <a:latin typeface="Baskerville Old Face" panose="02020602080505020303" pitchFamily="18" charset="0"/>
            </a:endParaRPr>
          </a:p>
          <a:p>
            <a:pPr marL="457200" lvl="0" indent="-457200">
              <a:buFont typeface="+mj-lt"/>
              <a:buAutoNum type="arabicPeriod"/>
            </a:pPr>
            <a:r>
              <a:rPr lang="en-IN" sz="2200" b="1">
                <a:latin typeface="Baskerville Old Face" panose="02020602080505020303" pitchFamily="18" charset="0"/>
              </a:rPr>
              <a:t>Submit Review</a:t>
            </a:r>
            <a:endParaRPr lang="en-IN" sz="2200" b="1">
              <a:latin typeface="Baskerville Old Face" panose="02020602080505020303" pitchFamily="18" charset="0"/>
            </a:endParaRPr>
          </a:p>
          <a:p>
            <a:pPr lvl="0"/>
            <a:endParaRPr lang="en-IN" sz="2200">
              <a:latin typeface="Baskerville Old Face" panose="02020602080505020303" pitchFamily="18" charset="0"/>
            </a:endParaRPr>
          </a:p>
          <a:p>
            <a:r>
              <a:rPr lang="en-IN" sz="2800" b="1">
                <a:latin typeface="Baskerville Old Face" panose="02020602080505020303" pitchFamily="18" charset="0"/>
              </a:rPr>
              <a:t>Step-by-step process using the tables:</a:t>
            </a:r>
            <a:endParaRPr lang="en-IN" sz="2800" b="1">
              <a:latin typeface="Baskerville Old Face" panose="02020602080505020303" pitchFamily="18" charset="0"/>
            </a:endParaRPr>
          </a:p>
          <a:p>
            <a:r>
              <a:rPr lang="en-IN" sz="2200" b="1">
                <a:latin typeface="Baskerville Old Face" panose="02020602080505020303"/>
              </a:rPr>
              <a:t>	Step 1: Customer starts browsing</a:t>
            </a:r>
            <a:endParaRPr lang="en-IN" sz="2200">
              <a:latin typeface="Baskerville Old Face" panose="02020602080505020303" pitchFamily="18" charset="0"/>
            </a:endParaRPr>
          </a:p>
          <a:p>
            <a:r>
              <a:rPr lang="en-IN" sz="2200">
                <a:latin typeface="Baskerville Old Face" panose="02020602080505020303"/>
              </a:rPr>
              <a:t>	A new record is created in </a:t>
            </a:r>
            <a:r>
              <a:rPr lang="en-IN" sz="2200" b="1" err="1">
                <a:latin typeface="Baskerville Old Face" panose="02020602080505020303"/>
              </a:rPr>
              <a:t>User_Sessions</a:t>
            </a:r>
            <a:r>
              <a:rPr lang="en-IN" sz="2200">
                <a:latin typeface="Baskerville Old Face" panose="02020602080505020303"/>
              </a:rPr>
              <a:t> table when the customer logs in or 		   starts visiting the site.</a:t>
            </a:r>
            <a:endParaRPr lang="en-IN" sz="2200">
              <a:latin typeface="Baskerville Old Face" panose="02020602080505020303" pitchFamily="18" charset="0"/>
            </a:endParaRPr>
          </a:p>
          <a:p>
            <a:r>
              <a:rPr lang="en-IN" sz="2200" b="1">
                <a:latin typeface="Baskerville Old Face" panose="02020602080505020303" pitchFamily="18" charset="0"/>
              </a:rPr>
              <a:t>	Step 2: Customer views a product</a:t>
            </a:r>
            <a:endParaRPr lang="en-IN" sz="2200">
              <a:latin typeface="Baskerville Old Face" panose="02020602080505020303" pitchFamily="18" charset="0"/>
            </a:endParaRPr>
          </a:p>
          <a:p>
            <a:pPr lvl="0"/>
            <a:r>
              <a:rPr lang="en-IN" sz="2200">
                <a:latin typeface="Baskerville Old Face" panose="02020602080505020303"/>
              </a:rPr>
              <a:t>		A record is inserted into </a:t>
            </a:r>
            <a:r>
              <a:rPr lang="en-IN" sz="2200" b="1" err="1">
                <a:latin typeface="Baskerville Old Face" panose="02020602080505020303"/>
              </a:rPr>
              <a:t>Product_Views</a:t>
            </a:r>
            <a:r>
              <a:rPr lang="en-IN" sz="2200">
                <a:latin typeface="Baskerville Old Face" panose="02020602080505020303"/>
              </a:rPr>
              <a:t> table</a:t>
            </a:r>
            <a:endParaRPr lang="en-IN" sz="2200">
              <a:latin typeface="Baskerville Old Face" panose="02020602080505020303"/>
            </a:endParaRPr>
          </a:p>
          <a:p>
            <a:pPr lvl="0"/>
            <a:r>
              <a:rPr lang="en-IN" sz="2200">
                <a:latin typeface="Baskerville Old Face" panose="02020602080505020303"/>
              </a:rPr>
              <a:t>		This marks the first stage of the funnel </a:t>
            </a:r>
            <a:endParaRPr lang="en-IN" sz="2200">
              <a:latin typeface="Baskerville Old Face" panose="02020602080505020303"/>
            </a:endParaRPr>
          </a:p>
          <a:p>
            <a:r>
              <a:rPr lang="en-IN" sz="2200" b="1">
                <a:latin typeface="Baskerville Old Face" panose="02020602080505020303" pitchFamily="18" charset="0"/>
              </a:rPr>
              <a:t>	Step 3: Customer adds product to cart</a:t>
            </a:r>
            <a:endParaRPr lang="en-IN" sz="2200">
              <a:latin typeface="Baskerville Old Face" panose="02020602080505020303" pitchFamily="18" charset="0"/>
            </a:endParaRPr>
          </a:p>
          <a:p>
            <a:pPr lvl="0"/>
            <a:r>
              <a:rPr lang="en-IN" sz="2200">
                <a:latin typeface="Baskerville Old Face" panose="02020602080505020303"/>
              </a:rPr>
              <a:t>		A record is inserted into </a:t>
            </a:r>
            <a:r>
              <a:rPr lang="en-IN" sz="2200" b="1" err="1">
                <a:latin typeface="Baskerville Old Face" panose="02020602080505020303"/>
              </a:rPr>
              <a:t>Cart_Events</a:t>
            </a:r>
            <a:r>
              <a:rPr lang="en-IN" sz="2200">
                <a:latin typeface="Baskerville Old Face" panose="02020602080505020303"/>
              </a:rPr>
              <a:t> table  </a:t>
            </a:r>
            <a:endParaRPr lang="en-IN" sz="2200">
              <a:latin typeface="Baskerville Old Face" panose="02020602080505020303"/>
            </a:endParaRPr>
          </a:p>
          <a:p>
            <a:pPr lvl="0"/>
            <a:r>
              <a:rPr lang="en-IN" sz="2200">
                <a:latin typeface="Baskerville Old Face" panose="02020602080505020303"/>
              </a:rPr>
              <a:t>		Also recorded in </a:t>
            </a:r>
            <a:r>
              <a:rPr lang="en-IN" sz="2200" b="1" err="1">
                <a:latin typeface="Baskerville Old Face" panose="02020602080505020303"/>
              </a:rPr>
              <a:t>Funnel_Events</a:t>
            </a:r>
            <a:r>
              <a:rPr lang="en-IN" sz="2200">
                <a:latin typeface="Baskerville Old Face" panose="02020602080505020303"/>
              </a:rPr>
              <a:t> table </a:t>
            </a:r>
            <a:endParaRPr lang="en-IN" sz="2200">
              <a:latin typeface="Baskerville Old Face" panose="02020602080505020303"/>
            </a:endParaRPr>
          </a:p>
          <a:p>
            <a:endParaRPr lang="en-I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8783" y="105013"/>
            <a:ext cx="11539330" cy="6647974"/>
          </a:xfrm>
          <a:prstGeom prst="rect">
            <a:avLst/>
          </a:prstGeom>
          <a:noFill/>
        </p:spPr>
        <p:txBody>
          <a:bodyPr wrap="square" rtlCol="0">
            <a:spAutoFit/>
          </a:bodyPr>
          <a:lstStyle/>
          <a:p>
            <a:r>
              <a:rPr lang="en-IN" b="1"/>
              <a:t>S</a:t>
            </a:r>
            <a:r>
              <a:rPr lang="en-IN" sz="2200" b="1">
                <a:latin typeface="Baskerville Old Face" panose="02020602080505020303" pitchFamily="18" charset="0"/>
              </a:rPr>
              <a:t>tep 4: Customer places an order</a:t>
            </a:r>
            <a:endParaRPr lang="en-IN" sz="2200">
              <a:latin typeface="Baskerville Old Face" panose="02020602080505020303" pitchFamily="18" charset="0"/>
            </a:endParaRPr>
          </a:p>
          <a:p>
            <a:pPr lvl="0"/>
            <a:r>
              <a:rPr lang="en-IN" sz="2200">
                <a:latin typeface="Baskerville Old Face" panose="02020602080505020303" pitchFamily="18" charset="0"/>
              </a:rPr>
              <a:t>	Data goes into </a:t>
            </a:r>
            <a:r>
              <a:rPr lang="en-IN" sz="2200" b="1">
                <a:latin typeface="Baskerville Old Face" panose="02020602080505020303" pitchFamily="18" charset="0"/>
              </a:rPr>
              <a:t>Orders</a:t>
            </a:r>
            <a:r>
              <a:rPr lang="en-IN" sz="2200">
                <a:latin typeface="Baskerville Old Face" panose="02020602080505020303" pitchFamily="18" charset="0"/>
              </a:rPr>
              <a:t> and </a:t>
            </a:r>
            <a:r>
              <a:rPr lang="en-IN" sz="2200" b="1" err="1">
                <a:latin typeface="Baskerville Old Face" panose="02020602080505020303" pitchFamily="18" charset="0"/>
              </a:rPr>
              <a:t>Order_Items</a:t>
            </a:r>
            <a:r>
              <a:rPr lang="en-IN" sz="2200">
                <a:latin typeface="Baskerville Old Face" panose="02020602080505020303" pitchFamily="18" charset="0"/>
              </a:rPr>
              <a:t> tables</a:t>
            </a:r>
            <a:endParaRPr lang="en-IN" sz="2200">
              <a:latin typeface="Baskerville Old Face" panose="02020602080505020303" pitchFamily="18" charset="0"/>
            </a:endParaRPr>
          </a:p>
          <a:p>
            <a:pPr lvl="0"/>
            <a:r>
              <a:rPr lang="en-IN" sz="2200">
                <a:latin typeface="Baskerville Old Face" panose="02020602080505020303" pitchFamily="18" charset="0"/>
              </a:rPr>
              <a:t>	A record is added in </a:t>
            </a:r>
            <a:r>
              <a:rPr lang="en-IN" sz="2200" b="1" err="1">
                <a:latin typeface="Baskerville Old Face" panose="02020602080505020303" pitchFamily="18" charset="0"/>
              </a:rPr>
              <a:t>Funnel_Events</a:t>
            </a:r>
            <a:r>
              <a:rPr lang="en-IN" sz="2200">
                <a:latin typeface="Baskerville Old Face" panose="02020602080505020303" pitchFamily="18" charset="0"/>
              </a:rPr>
              <a:t> </a:t>
            </a:r>
            <a:endParaRPr lang="en-IN" sz="2200">
              <a:latin typeface="Baskerville Old Face" panose="02020602080505020303" pitchFamily="18" charset="0"/>
            </a:endParaRPr>
          </a:p>
          <a:p>
            <a:pPr lvl="0"/>
            <a:r>
              <a:rPr lang="en-IN" sz="2200" b="1">
                <a:latin typeface="Baskerville Old Face" panose="02020602080505020303" pitchFamily="18" charset="0"/>
              </a:rPr>
              <a:t>Step 5: Customer makes payment</a:t>
            </a:r>
            <a:endParaRPr lang="en-IN" sz="2200">
              <a:latin typeface="Baskerville Old Face" panose="02020602080505020303" pitchFamily="18" charset="0"/>
            </a:endParaRPr>
          </a:p>
          <a:p>
            <a:pPr lvl="0"/>
            <a:r>
              <a:rPr lang="en-IN" sz="2200">
                <a:latin typeface="Baskerville Old Face" panose="02020602080505020303" pitchFamily="18" charset="0"/>
              </a:rPr>
              <a:t>	Data goes into </a:t>
            </a:r>
            <a:r>
              <a:rPr lang="en-IN" sz="2200" b="1">
                <a:latin typeface="Baskerville Old Face" panose="02020602080505020303" pitchFamily="18" charset="0"/>
              </a:rPr>
              <a:t>Payments</a:t>
            </a:r>
            <a:r>
              <a:rPr lang="en-IN" sz="2200">
                <a:latin typeface="Baskerville Old Face" panose="02020602080505020303" pitchFamily="18" charset="0"/>
              </a:rPr>
              <a:t> table</a:t>
            </a:r>
            <a:endParaRPr lang="en-IN" sz="2200">
              <a:latin typeface="Baskerville Old Face" panose="02020602080505020303" pitchFamily="18" charset="0"/>
            </a:endParaRPr>
          </a:p>
          <a:p>
            <a:pPr lvl="0"/>
            <a:r>
              <a:rPr lang="en-IN" sz="2200">
                <a:latin typeface="Baskerville Old Face" panose="02020602080505020303" pitchFamily="18" charset="0"/>
              </a:rPr>
              <a:t>	A record is added in </a:t>
            </a:r>
            <a:r>
              <a:rPr lang="en-IN" sz="2200" b="1" err="1">
                <a:latin typeface="Baskerville Old Face" panose="02020602080505020303" pitchFamily="18" charset="0"/>
              </a:rPr>
              <a:t>Funnel_Events</a:t>
            </a:r>
            <a:r>
              <a:rPr lang="en-IN" sz="2200">
                <a:latin typeface="Baskerville Old Face" panose="02020602080505020303" pitchFamily="18" charset="0"/>
              </a:rPr>
              <a:t> </a:t>
            </a:r>
            <a:endParaRPr lang="en-IN" sz="2200">
              <a:latin typeface="Baskerville Old Face" panose="02020602080505020303" pitchFamily="18" charset="0"/>
            </a:endParaRPr>
          </a:p>
          <a:p>
            <a:pPr lvl="0"/>
            <a:r>
              <a:rPr lang="en-IN" sz="2200" b="1">
                <a:latin typeface="Baskerville Old Face" panose="02020602080505020303" pitchFamily="18" charset="0"/>
              </a:rPr>
              <a:t>Step 6: Customer submits review</a:t>
            </a:r>
            <a:endParaRPr lang="en-IN" sz="2200">
              <a:latin typeface="Baskerville Old Face" panose="02020602080505020303" pitchFamily="18" charset="0"/>
            </a:endParaRPr>
          </a:p>
          <a:p>
            <a:pPr lvl="0"/>
            <a:r>
              <a:rPr lang="en-IN" sz="2200">
                <a:latin typeface="Baskerville Old Face" panose="02020602080505020303" pitchFamily="18" charset="0"/>
              </a:rPr>
              <a:t>	Data goes into </a:t>
            </a:r>
            <a:r>
              <a:rPr lang="en-IN" sz="2200" b="1">
                <a:latin typeface="Baskerville Old Face" panose="02020602080505020303" pitchFamily="18" charset="0"/>
              </a:rPr>
              <a:t>Reviews</a:t>
            </a:r>
            <a:r>
              <a:rPr lang="en-IN" sz="2200">
                <a:latin typeface="Baskerville Old Face" panose="02020602080505020303" pitchFamily="18" charset="0"/>
              </a:rPr>
              <a:t> table</a:t>
            </a:r>
            <a:endParaRPr lang="en-IN" sz="2200">
              <a:latin typeface="Baskerville Old Face" panose="02020602080505020303" pitchFamily="18" charset="0"/>
            </a:endParaRPr>
          </a:p>
          <a:p>
            <a:pPr lvl="0"/>
            <a:r>
              <a:rPr lang="en-IN" sz="2200">
                <a:latin typeface="Baskerville Old Face" panose="02020602080505020303" pitchFamily="18" charset="0"/>
              </a:rPr>
              <a:t>	A record is added in </a:t>
            </a:r>
            <a:r>
              <a:rPr lang="en-IN" sz="2200" b="1" err="1">
                <a:latin typeface="Baskerville Old Face" panose="02020602080505020303" pitchFamily="18" charset="0"/>
              </a:rPr>
              <a:t>Funnel_Events</a:t>
            </a:r>
            <a:r>
              <a:rPr lang="en-IN" sz="2200">
                <a:latin typeface="Baskerville Old Face" panose="02020602080505020303" pitchFamily="18" charset="0"/>
              </a:rPr>
              <a:t> </a:t>
            </a:r>
            <a:endParaRPr lang="en-IN" sz="2200">
              <a:latin typeface="Baskerville Old Face" panose="02020602080505020303" pitchFamily="18" charset="0"/>
            </a:endParaRPr>
          </a:p>
          <a:p>
            <a:pPr lvl="0"/>
            <a:endParaRPr lang="en-IN" sz="2200">
              <a:latin typeface="Baskerville Old Face" panose="02020602080505020303" pitchFamily="18" charset="0"/>
            </a:endParaRPr>
          </a:p>
          <a:p>
            <a:r>
              <a:rPr lang="en-IN" sz="2800" b="1" u="sng">
                <a:latin typeface="Baskerville Old Face" panose="02020602080505020303" pitchFamily="18" charset="0"/>
              </a:rPr>
              <a:t>How the Funnel is Calculated (using SQL)</a:t>
            </a:r>
            <a:endParaRPr lang="en-IN" sz="2800" b="1" u="sng">
              <a:latin typeface="Baskerville Old Face" panose="02020602080505020303" pitchFamily="18" charset="0"/>
            </a:endParaRPr>
          </a:p>
          <a:p>
            <a:r>
              <a:rPr lang="en-IN" sz="2200">
                <a:latin typeface="Baskerville Old Face" panose="02020602080505020303" pitchFamily="18" charset="0"/>
              </a:rPr>
              <a:t>Using the </a:t>
            </a:r>
            <a:r>
              <a:rPr lang="en-IN" sz="2200" b="1" err="1">
                <a:latin typeface="Baskerville Old Face" panose="02020602080505020303" pitchFamily="18" charset="0"/>
              </a:rPr>
              <a:t>Funnel_Events</a:t>
            </a:r>
            <a:r>
              <a:rPr lang="en-IN" sz="2200">
                <a:latin typeface="Baskerville Old Face" panose="02020602080505020303" pitchFamily="18" charset="0"/>
              </a:rPr>
              <a:t> table, we can calculate:</a:t>
            </a:r>
            <a:endParaRPr lang="en-IN" sz="2200">
              <a:latin typeface="Baskerville Old Face" panose="02020602080505020303" pitchFamily="18" charset="0"/>
            </a:endParaRPr>
          </a:p>
          <a:p>
            <a:pPr marL="342900" lvl="0" indent="-342900">
              <a:buFont typeface="Arial" panose="020B0604020202020204" pitchFamily="34" charset="0"/>
              <a:buChar char="•"/>
            </a:pPr>
            <a:r>
              <a:rPr lang="en-IN" sz="2200">
                <a:latin typeface="Baskerville Old Face" panose="02020602080505020303" pitchFamily="18" charset="0"/>
              </a:rPr>
              <a:t>How many customers reached each stage</a:t>
            </a:r>
            <a:endParaRPr lang="en-IN" sz="2200">
              <a:latin typeface="Baskerville Old Face" panose="02020602080505020303" pitchFamily="18" charset="0"/>
            </a:endParaRPr>
          </a:p>
          <a:p>
            <a:pPr marL="342900" lvl="0" indent="-342900">
              <a:buFont typeface="Arial" panose="020B0604020202020204" pitchFamily="34" charset="0"/>
              <a:buChar char="•"/>
            </a:pPr>
            <a:r>
              <a:rPr lang="en-IN" sz="2200">
                <a:latin typeface="Baskerville Old Face" panose="02020602080505020303" pitchFamily="18" charset="0"/>
              </a:rPr>
              <a:t>Conversion rate between stages</a:t>
            </a:r>
            <a:endParaRPr lang="en-IN" sz="2200">
              <a:latin typeface="Baskerville Old Face" panose="02020602080505020303" pitchFamily="18" charset="0"/>
            </a:endParaRPr>
          </a:p>
          <a:p>
            <a:pPr marL="342900" lvl="0" indent="-342900">
              <a:buFont typeface="Arial" panose="020B0604020202020204" pitchFamily="34" charset="0"/>
              <a:buChar char="•"/>
            </a:pPr>
            <a:r>
              <a:rPr lang="en-IN" sz="2200">
                <a:latin typeface="Baskerville Old Face" panose="02020602080505020303" pitchFamily="18" charset="0"/>
              </a:rPr>
              <a:t>Drop-off percentage at each stage</a:t>
            </a:r>
            <a:endParaRPr lang="en-IN" sz="2200">
              <a:latin typeface="Baskerville Old Face" panose="02020602080505020303" pitchFamily="18" charset="0"/>
            </a:endParaRPr>
          </a:p>
          <a:p>
            <a:pPr lvl="0"/>
            <a:endParaRPr lang="en-IN" sz="2200">
              <a:latin typeface="Baskerville Old Face" panose="02020602080505020303" pitchFamily="18" charset="0"/>
            </a:endParaRPr>
          </a:p>
          <a:p>
            <a:r>
              <a:rPr lang="en-IN" sz="2400" u="sng">
                <a:latin typeface="Baskerville Old Face" panose="02020602080505020303" pitchFamily="18" charset="0"/>
              </a:rPr>
              <a:t>1. Conversion Rate from one stage to next</a:t>
            </a:r>
            <a:endParaRPr lang="en-IN" sz="2400" u="sng">
              <a:latin typeface="Baskerville Old Face" panose="02020602080505020303" pitchFamily="18" charset="0"/>
            </a:endParaRPr>
          </a:p>
          <a:p>
            <a:r>
              <a:rPr lang="en-IN" sz="2200">
                <a:latin typeface="Baskerville Old Face" panose="02020602080505020303" pitchFamily="18" charset="0"/>
              </a:rPr>
              <a:t>	(Customers in next stage ÷ Customers in current stage) × 100</a:t>
            </a:r>
            <a:endParaRPr lang="en-IN" sz="2200">
              <a:latin typeface="Baskerville Old Face" panose="02020602080505020303" pitchFamily="18" charset="0"/>
            </a:endParaRPr>
          </a:p>
          <a:p>
            <a:pPr lvl="0"/>
            <a:endParaRPr lang="en-IN" sz="2200">
              <a:latin typeface="Baskerville Old Face" panose="02020602080505020303"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7957" y="1457297"/>
            <a:ext cx="10962860" cy="4524315"/>
          </a:xfrm>
          <a:prstGeom prst="rect">
            <a:avLst/>
          </a:prstGeom>
          <a:noFill/>
        </p:spPr>
        <p:txBody>
          <a:bodyPr wrap="square" rtlCol="0">
            <a:spAutoFit/>
          </a:bodyPr>
          <a:lstStyle/>
          <a:p>
            <a:r>
              <a:rPr lang="en-IN" sz="2400" u="sng">
                <a:latin typeface="Baskerville Old Face" panose="02020602080505020303" pitchFamily="18" charset="0"/>
              </a:rPr>
              <a:t>2. Drop-off Rate</a:t>
            </a:r>
            <a:endParaRPr lang="en-IN" sz="2400" u="sng">
              <a:latin typeface="Baskerville Old Face" panose="02020602080505020303" pitchFamily="18" charset="0"/>
            </a:endParaRPr>
          </a:p>
          <a:p>
            <a:r>
              <a:rPr lang="en-IN" sz="2200">
                <a:latin typeface="Baskerville Old Face" panose="02020602080505020303" pitchFamily="18" charset="0"/>
              </a:rPr>
              <a:t>	100% – Conversion Rate</a:t>
            </a:r>
            <a:endParaRPr lang="en-IN" sz="2200">
              <a:latin typeface="Baskerville Old Face" panose="02020602080505020303" pitchFamily="18" charset="0"/>
            </a:endParaRPr>
          </a:p>
          <a:p>
            <a:endParaRPr lang="en-IN" sz="2200">
              <a:latin typeface="Baskerville Old Face" panose="02020602080505020303" pitchFamily="18" charset="0"/>
            </a:endParaRPr>
          </a:p>
          <a:p>
            <a:r>
              <a:rPr lang="en-IN" sz="2400" u="sng">
                <a:latin typeface="Baskerville Old Face" panose="02020602080505020303" pitchFamily="18" charset="0"/>
              </a:rPr>
              <a:t>3. Overall Funnel Conversion</a:t>
            </a:r>
            <a:endParaRPr lang="en-IN" sz="2400" u="sng">
              <a:latin typeface="Baskerville Old Face" panose="02020602080505020303" pitchFamily="18" charset="0"/>
            </a:endParaRPr>
          </a:p>
          <a:p>
            <a:r>
              <a:rPr lang="en-IN" sz="2200">
                <a:latin typeface="Baskerville Old Face" panose="02020602080505020303" pitchFamily="18" charset="0"/>
              </a:rPr>
              <a:t>	(Customers who completed Review ÷ Customers who Viewed) × 100</a:t>
            </a:r>
            <a:endParaRPr lang="en-IN" sz="2200">
              <a:latin typeface="Baskerville Old Face" panose="02020602080505020303" pitchFamily="18" charset="0"/>
            </a:endParaRPr>
          </a:p>
          <a:p>
            <a:endParaRPr lang="en-IN" sz="2200">
              <a:latin typeface="Baskerville Old Face" panose="02020602080505020303" pitchFamily="18" charset="0"/>
            </a:endParaRPr>
          </a:p>
          <a:p>
            <a:r>
              <a:rPr lang="en-IN" sz="2400" b="1">
                <a:latin typeface="Baskerville Old Face" panose="02020602080505020303" pitchFamily="18" charset="0"/>
              </a:rPr>
              <a:t>Finally calculate:</a:t>
            </a:r>
            <a:endParaRPr lang="en-IN" sz="2400" b="1">
              <a:latin typeface="Baskerville Old Face" panose="02020602080505020303" pitchFamily="18" charset="0"/>
            </a:endParaRPr>
          </a:p>
          <a:p>
            <a:pPr marL="342900" lvl="0" indent="-342900">
              <a:buFont typeface="Arial" panose="020B0604020202020204" pitchFamily="34" charset="0"/>
              <a:buChar char="•"/>
            </a:pPr>
            <a:r>
              <a:rPr lang="en-IN" sz="2200">
                <a:latin typeface="Baskerville Old Face" panose="02020602080505020303" pitchFamily="18" charset="0"/>
              </a:rPr>
              <a:t>View → Cart conversion %</a:t>
            </a:r>
            <a:endParaRPr lang="en-IN" sz="2200">
              <a:latin typeface="Baskerville Old Face" panose="02020602080505020303" pitchFamily="18" charset="0"/>
            </a:endParaRPr>
          </a:p>
          <a:p>
            <a:pPr marL="342900" lvl="0" indent="-342900">
              <a:buFont typeface="Arial" panose="020B0604020202020204" pitchFamily="34" charset="0"/>
              <a:buChar char="•"/>
            </a:pPr>
            <a:r>
              <a:rPr lang="en-IN" sz="2200">
                <a:latin typeface="Baskerville Old Face" panose="02020602080505020303" pitchFamily="18" charset="0"/>
              </a:rPr>
              <a:t>Cart → Order conversion %</a:t>
            </a:r>
            <a:endParaRPr lang="en-IN" sz="2200">
              <a:latin typeface="Baskerville Old Face" panose="02020602080505020303" pitchFamily="18" charset="0"/>
            </a:endParaRPr>
          </a:p>
          <a:p>
            <a:pPr marL="342900" lvl="0" indent="-342900">
              <a:buFont typeface="Arial" panose="020B0604020202020204" pitchFamily="34" charset="0"/>
              <a:buChar char="•"/>
            </a:pPr>
            <a:r>
              <a:rPr lang="en-IN" sz="2200">
                <a:latin typeface="Baskerville Old Face" panose="02020602080505020303" pitchFamily="18" charset="0"/>
              </a:rPr>
              <a:t>Order → Payment conversion %</a:t>
            </a:r>
            <a:endParaRPr lang="en-IN" sz="2200">
              <a:latin typeface="Baskerville Old Face" panose="02020602080505020303" pitchFamily="18" charset="0"/>
            </a:endParaRPr>
          </a:p>
          <a:p>
            <a:pPr marL="342900" lvl="0" indent="-342900">
              <a:buFont typeface="Arial" panose="020B0604020202020204" pitchFamily="34" charset="0"/>
              <a:buChar char="•"/>
            </a:pPr>
            <a:r>
              <a:rPr lang="en-IN" sz="2200">
                <a:latin typeface="Baskerville Old Face" panose="02020602080505020303" pitchFamily="18" charset="0"/>
              </a:rPr>
              <a:t>Payment → Review conversion %</a:t>
            </a:r>
            <a:endParaRPr lang="en-IN" sz="2200">
              <a:latin typeface="Baskerville Old Face" panose="02020602080505020303" pitchFamily="18" charset="0"/>
            </a:endParaRPr>
          </a:p>
          <a:p>
            <a:endParaRPr lang="en-IN" sz="2200">
              <a:latin typeface="Baskerville Old Face" panose="02020602080505020303" pitchFamily="18" charset="0"/>
            </a:endParaRPr>
          </a:p>
          <a:p>
            <a:endParaRPr lang="en-IN">
              <a:latin typeface="Baskerville Old Face" panose="02020602080505020303"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p:cNvSpPr>
            <a:spLocks noGrp="1" noRot="1" noChangeAspect="1" noMove="1" noResize="1" noEditPoints="1" noAdjustHandles="1" noChangeArrowheads="1" noChangeShapeType="1" noTextEdit="1"/>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1682646" y="1404610"/>
            <a:ext cx="6093500" cy="498663"/>
          </a:xfrm>
          <a:prstGeom prst="rect">
            <a:avLst/>
          </a:prstGeom>
          <a:noFill/>
        </p:spPr>
        <p:txBody>
          <a:bodyPr wrap="square" lIns="91440" tIns="45720" rIns="91440" bIns="45720" anchor="t">
            <a:spAutoFit/>
          </a:bodyPr>
          <a:lstStyle/>
          <a:p>
            <a:pPr>
              <a:lnSpc>
                <a:spcPct val="150000"/>
              </a:lnSpc>
            </a:pPr>
            <a:endParaRPr lang="en-US" sz="2000" b="1">
              <a:latin typeface="Times New Roman" panose="02020603050405020304" pitchFamily="18" charset="0"/>
              <a:cs typeface="Times New Roman" panose="02020603050405020304" pitchFamily="18" charset="0"/>
            </a:endParaRPr>
          </a:p>
        </p:txBody>
      </p:sp>
      <p:graphicFrame>
        <p:nvGraphicFramePr>
          <p:cNvPr id="4" name="Table 3"/>
          <p:cNvGraphicFramePr>
            <a:graphicFrameLocks noGrp="1"/>
          </p:cNvGraphicFramePr>
          <p:nvPr/>
        </p:nvGraphicFramePr>
        <p:xfrm>
          <a:off x="568537" y="982758"/>
          <a:ext cx="10904855" cy="5079365"/>
        </p:xfrm>
        <a:graphic>
          <a:graphicData uri="http://schemas.openxmlformats.org/drawingml/2006/table">
            <a:tbl>
              <a:tblPr bandRow="1">
                <a:tableStyleId>{5C22544A-7EE6-4342-B048-85BDC9FD1C3A}</a:tableStyleId>
              </a:tblPr>
              <a:tblGrid>
                <a:gridCol w="2076276"/>
                <a:gridCol w="2091678"/>
                <a:gridCol w="1999263"/>
                <a:gridCol w="2661576"/>
                <a:gridCol w="2076276"/>
              </a:tblGrid>
              <a:tr h="487956">
                <a:tc>
                  <a:txBody>
                    <a:bodyPr/>
                    <a:lstStyle/>
                    <a:p>
                      <a:pPr>
                        <a:buNone/>
                      </a:pPr>
                      <a:r>
                        <a:rPr lang="en-US" sz="2200"/>
                        <a:t>Page</a:t>
                      </a:r>
                      <a:endParaRPr lang="en-US" sz="2200"/>
                    </a:p>
                  </a:txBody>
                  <a:tcPr marL="110899" marR="110899" marT="55449" marB="55449" anchor="ctr">
                    <a:lnL>
                      <a:noFill/>
                    </a:lnL>
                    <a:lnR>
                      <a:noFill/>
                    </a:lnR>
                    <a:lnT>
                      <a:noFill/>
                    </a:lnT>
                    <a:lnB>
                      <a:noFill/>
                    </a:lnB>
                    <a:noFill/>
                  </a:tcPr>
                </a:tc>
                <a:tc>
                  <a:txBody>
                    <a:bodyPr/>
                    <a:lstStyle/>
                    <a:p>
                      <a:pPr>
                        <a:buNone/>
                      </a:pPr>
                      <a:r>
                        <a:rPr lang="en-US" sz="2200"/>
                        <a:t>CREATE</a:t>
                      </a:r>
                      <a:endParaRPr lang="en-US" sz="2200"/>
                    </a:p>
                  </a:txBody>
                  <a:tcPr marL="110899" marR="110899" marT="55449" marB="55449" anchor="ctr">
                    <a:lnL>
                      <a:noFill/>
                    </a:lnL>
                    <a:lnR>
                      <a:noFill/>
                    </a:lnR>
                    <a:lnT>
                      <a:noFill/>
                    </a:lnT>
                    <a:lnB>
                      <a:noFill/>
                    </a:lnB>
                    <a:noFill/>
                  </a:tcPr>
                </a:tc>
                <a:tc>
                  <a:txBody>
                    <a:bodyPr/>
                    <a:lstStyle/>
                    <a:p>
                      <a:pPr>
                        <a:buNone/>
                      </a:pPr>
                      <a:r>
                        <a:rPr lang="en-US" sz="2200"/>
                        <a:t>READ</a:t>
                      </a:r>
                      <a:endParaRPr lang="en-US" sz="2200"/>
                    </a:p>
                  </a:txBody>
                  <a:tcPr marL="110899" marR="110899" marT="55449" marB="55449" anchor="ctr">
                    <a:lnL>
                      <a:noFill/>
                    </a:lnL>
                    <a:lnR>
                      <a:noFill/>
                    </a:lnR>
                    <a:lnT>
                      <a:noFill/>
                    </a:lnT>
                    <a:lnB>
                      <a:noFill/>
                    </a:lnB>
                    <a:noFill/>
                  </a:tcPr>
                </a:tc>
                <a:tc>
                  <a:txBody>
                    <a:bodyPr/>
                    <a:lstStyle/>
                    <a:p>
                      <a:pPr>
                        <a:buNone/>
                      </a:pPr>
                      <a:r>
                        <a:rPr lang="en-US" sz="2200"/>
                        <a:t>UPDATE</a:t>
                      </a:r>
                      <a:endParaRPr lang="en-US" sz="2200"/>
                    </a:p>
                  </a:txBody>
                  <a:tcPr marL="110899" marR="110899" marT="55449" marB="55449" anchor="ctr">
                    <a:lnL>
                      <a:noFill/>
                    </a:lnL>
                    <a:lnR>
                      <a:noFill/>
                    </a:lnR>
                    <a:lnT>
                      <a:noFill/>
                    </a:lnT>
                    <a:lnB>
                      <a:noFill/>
                    </a:lnB>
                    <a:noFill/>
                  </a:tcPr>
                </a:tc>
                <a:tc>
                  <a:txBody>
                    <a:bodyPr/>
                    <a:lstStyle/>
                    <a:p>
                      <a:pPr>
                        <a:buNone/>
                      </a:pPr>
                      <a:r>
                        <a:rPr lang="en-US" sz="2200"/>
                        <a:t>DELETE</a:t>
                      </a:r>
                      <a:endParaRPr lang="en-US" sz="2200"/>
                    </a:p>
                  </a:txBody>
                  <a:tcPr marL="110899" marR="110899" marT="55449" marB="55449" anchor="ctr">
                    <a:lnL>
                      <a:noFill/>
                    </a:lnL>
                    <a:lnR>
                      <a:noFill/>
                    </a:lnR>
                    <a:lnT>
                      <a:noFill/>
                    </a:lnT>
                    <a:lnB>
                      <a:noFill/>
                    </a:lnB>
                    <a:noFill/>
                  </a:tcPr>
                </a:tc>
              </a:tr>
              <a:tr h="820653">
                <a:tc>
                  <a:txBody>
                    <a:bodyPr/>
                    <a:lstStyle/>
                    <a:p>
                      <a:pPr>
                        <a:buNone/>
                      </a:pPr>
                      <a:r>
                        <a:rPr lang="en-US" sz="2200" b="1"/>
                        <a:t>Customer Management</a:t>
                      </a:r>
                      <a:endParaRPr lang="en-US" sz="2200"/>
                    </a:p>
                  </a:txBody>
                  <a:tcPr marL="110899" marR="110899" marT="55449" marB="55449" anchor="ctr">
                    <a:lnL>
                      <a:noFill/>
                    </a:lnL>
                    <a:lnR>
                      <a:noFill/>
                    </a:lnR>
                    <a:lnT>
                      <a:noFill/>
                    </a:lnT>
                    <a:lnB>
                      <a:noFill/>
                    </a:lnB>
                    <a:noFill/>
                  </a:tcPr>
                </a:tc>
                <a:tc>
                  <a:txBody>
                    <a:bodyPr/>
                    <a:lstStyle/>
                    <a:p>
                      <a:pPr>
                        <a:buNone/>
                      </a:pPr>
                      <a:r>
                        <a:rPr lang="en-US" sz="2200"/>
                        <a:t>Add customer</a:t>
                      </a:r>
                      <a:endParaRPr lang="en-US" sz="2200"/>
                    </a:p>
                  </a:txBody>
                  <a:tcPr marL="110899" marR="110899" marT="55449" marB="55449" anchor="ctr">
                    <a:lnL>
                      <a:noFill/>
                    </a:lnL>
                    <a:lnR>
                      <a:noFill/>
                    </a:lnR>
                    <a:lnT>
                      <a:noFill/>
                    </a:lnT>
                    <a:lnB>
                      <a:noFill/>
                    </a:lnB>
                    <a:noFill/>
                  </a:tcPr>
                </a:tc>
                <a:tc>
                  <a:txBody>
                    <a:bodyPr/>
                    <a:lstStyle/>
                    <a:p>
                      <a:pPr>
                        <a:buNone/>
                      </a:pPr>
                      <a:r>
                        <a:rPr lang="en-US" sz="2200"/>
                        <a:t>View customers</a:t>
                      </a:r>
                      <a:endParaRPr lang="en-US" sz="2200"/>
                    </a:p>
                  </a:txBody>
                  <a:tcPr marL="110899" marR="110899" marT="55449" marB="55449" anchor="ctr">
                    <a:lnL>
                      <a:noFill/>
                    </a:lnL>
                    <a:lnR>
                      <a:noFill/>
                    </a:lnR>
                    <a:lnT>
                      <a:noFill/>
                    </a:lnT>
                    <a:lnB>
                      <a:noFill/>
                    </a:lnB>
                    <a:noFill/>
                  </a:tcPr>
                </a:tc>
                <a:tc>
                  <a:txBody>
                    <a:bodyPr/>
                    <a:lstStyle/>
                    <a:p>
                      <a:pPr>
                        <a:buNone/>
                      </a:pPr>
                      <a:r>
                        <a:rPr lang="en-US" sz="2200"/>
                        <a:t>Edit customer</a:t>
                      </a:r>
                      <a:endParaRPr lang="en-US" sz="2200"/>
                    </a:p>
                  </a:txBody>
                  <a:tcPr marL="110899" marR="110899" marT="55449" marB="55449" anchor="ctr">
                    <a:lnL>
                      <a:noFill/>
                    </a:lnL>
                    <a:lnR>
                      <a:noFill/>
                    </a:lnR>
                    <a:lnT>
                      <a:noFill/>
                    </a:lnT>
                    <a:lnB>
                      <a:noFill/>
                    </a:lnB>
                    <a:noFill/>
                  </a:tcPr>
                </a:tc>
                <a:tc>
                  <a:txBody>
                    <a:bodyPr/>
                    <a:lstStyle/>
                    <a:p>
                      <a:pPr>
                        <a:buNone/>
                      </a:pPr>
                      <a:r>
                        <a:rPr lang="en-US" sz="2200"/>
                        <a:t>-</a:t>
                      </a:r>
                      <a:endParaRPr lang="en-US" sz="2200"/>
                    </a:p>
                  </a:txBody>
                  <a:tcPr marL="110899" marR="110899" marT="55449" marB="55449" anchor="ctr">
                    <a:lnL>
                      <a:noFill/>
                    </a:lnL>
                    <a:lnR>
                      <a:noFill/>
                    </a:lnR>
                    <a:lnT>
                      <a:noFill/>
                    </a:lnT>
                    <a:lnB>
                      <a:noFill/>
                    </a:lnB>
                    <a:noFill/>
                  </a:tcPr>
                </a:tc>
              </a:tr>
              <a:tr h="820653">
                <a:tc>
                  <a:txBody>
                    <a:bodyPr/>
                    <a:lstStyle/>
                    <a:p>
                      <a:pPr>
                        <a:buNone/>
                      </a:pPr>
                      <a:r>
                        <a:rPr lang="en-US" sz="2200" b="1"/>
                        <a:t>Seller Management</a:t>
                      </a:r>
                      <a:endParaRPr lang="en-US" sz="2200"/>
                    </a:p>
                  </a:txBody>
                  <a:tcPr marL="110899" marR="110899" marT="55449" marB="55449" anchor="ctr">
                    <a:lnL>
                      <a:noFill/>
                    </a:lnL>
                    <a:lnR>
                      <a:noFill/>
                    </a:lnR>
                    <a:lnT>
                      <a:noFill/>
                    </a:lnT>
                    <a:lnB>
                      <a:noFill/>
                    </a:lnB>
                    <a:noFill/>
                  </a:tcPr>
                </a:tc>
                <a:tc>
                  <a:txBody>
                    <a:bodyPr/>
                    <a:lstStyle/>
                    <a:p>
                      <a:pPr>
                        <a:buNone/>
                      </a:pPr>
                      <a:r>
                        <a:rPr lang="en-US" sz="2200"/>
                        <a:t>Add seller</a:t>
                      </a:r>
                      <a:endParaRPr lang="en-US" sz="2200"/>
                    </a:p>
                  </a:txBody>
                  <a:tcPr marL="110899" marR="110899" marT="55449" marB="55449" anchor="ctr">
                    <a:lnL>
                      <a:noFill/>
                    </a:lnL>
                    <a:lnR>
                      <a:noFill/>
                    </a:lnR>
                    <a:lnT>
                      <a:noFill/>
                    </a:lnT>
                    <a:lnB>
                      <a:noFill/>
                    </a:lnB>
                    <a:noFill/>
                  </a:tcPr>
                </a:tc>
                <a:tc>
                  <a:txBody>
                    <a:bodyPr/>
                    <a:lstStyle/>
                    <a:p>
                      <a:pPr>
                        <a:buNone/>
                      </a:pPr>
                      <a:r>
                        <a:rPr lang="en-US" sz="2200"/>
                        <a:t>View sellers</a:t>
                      </a:r>
                      <a:endParaRPr lang="en-US" sz="2200"/>
                    </a:p>
                  </a:txBody>
                  <a:tcPr marL="110899" marR="110899" marT="55449" marB="55449" anchor="ctr">
                    <a:lnL>
                      <a:noFill/>
                    </a:lnL>
                    <a:lnR>
                      <a:noFill/>
                    </a:lnR>
                    <a:lnT>
                      <a:noFill/>
                    </a:lnT>
                    <a:lnB>
                      <a:noFill/>
                    </a:lnB>
                    <a:noFill/>
                  </a:tcPr>
                </a:tc>
                <a:tc>
                  <a:txBody>
                    <a:bodyPr/>
                    <a:lstStyle/>
                    <a:p>
                      <a:pPr>
                        <a:buNone/>
                      </a:pPr>
                      <a:r>
                        <a:rPr lang="en-US" sz="2200"/>
                        <a:t>-</a:t>
                      </a:r>
                      <a:endParaRPr lang="en-US" sz="2200"/>
                    </a:p>
                  </a:txBody>
                  <a:tcPr marL="110899" marR="110899" marT="55449" marB="55449" anchor="ctr">
                    <a:lnL>
                      <a:noFill/>
                    </a:lnL>
                    <a:lnR>
                      <a:noFill/>
                    </a:lnR>
                    <a:lnT>
                      <a:noFill/>
                    </a:lnT>
                    <a:lnB>
                      <a:noFill/>
                    </a:lnB>
                    <a:noFill/>
                  </a:tcPr>
                </a:tc>
                <a:tc>
                  <a:txBody>
                    <a:bodyPr/>
                    <a:lstStyle/>
                    <a:p>
                      <a:pPr>
                        <a:buNone/>
                      </a:pPr>
                      <a:r>
                        <a:rPr lang="en-US" sz="2200"/>
                        <a:t>Delete seller</a:t>
                      </a:r>
                      <a:endParaRPr lang="en-US" sz="2200"/>
                    </a:p>
                  </a:txBody>
                  <a:tcPr marL="110899" marR="110899" marT="55449" marB="55449" anchor="ctr">
                    <a:lnL>
                      <a:noFill/>
                    </a:lnL>
                    <a:lnR>
                      <a:noFill/>
                    </a:lnR>
                    <a:lnT>
                      <a:noFill/>
                    </a:lnT>
                    <a:lnB>
                      <a:noFill/>
                    </a:lnB>
                    <a:noFill/>
                  </a:tcPr>
                </a:tc>
              </a:tr>
              <a:tr h="820653">
                <a:tc>
                  <a:txBody>
                    <a:bodyPr/>
                    <a:lstStyle/>
                    <a:p>
                      <a:pPr>
                        <a:buNone/>
                      </a:pPr>
                      <a:r>
                        <a:rPr lang="en-US" sz="2200" b="1"/>
                        <a:t>Product Management</a:t>
                      </a:r>
                      <a:endParaRPr lang="en-US" sz="2200"/>
                    </a:p>
                  </a:txBody>
                  <a:tcPr marL="110899" marR="110899" marT="55449" marB="55449" anchor="ctr">
                    <a:lnL>
                      <a:noFill/>
                    </a:lnL>
                    <a:lnR>
                      <a:noFill/>
                    </a:lnR>
                    <a:lnT>
                      <a:noFill/>
                    </a:lnT>
                    <a:lnB>
                      <a:noFill/>
                    </a:lnB>
                    <a:noFill/>
                  </a:tcPr>
                </a:tc>
                <a:tc>
                  <a:txBody>
                    <a:bodyPr/>
                    <a:lstStyle/>
                    <a:p>
                      <a:pPr>
                        <a:buNone/>
                      </a:pPr>
                      <a:r>
                        <a:rPr lang="en-US" sz="2200"/>
                        <a:t>Seller adds product</a:t>
                      </a:r>
                      <a:endParaRPr lang="en-US" sz="2200"/>
                    </a:p>
                  </a:txBody>
                  <a:tcPr marL="110899" marR="110899" marT="55449" marB="55449" anchor="ctr">
                    <a:lnL>
                      <a:noFill/>
                    </a:lnL>
                    <a:lnR>
                      <a:noFill/>
                    </a:lnR>
                    <a:lnT>
                      <a:noFill/>
                    </a:lnT>
                    <a:lnB>
                      <a:noFill/>
                    </a:lnB>
                    <a:noFill/>
                  </a:tcPr>
                </a:tc>
                <a:tc>
                  <a:txBody>
                    <a:bodyPr/>
                    <a:lstStyle/>
                    <a:p>
                      <a:pPr>
                        <a:buNone/>
                      </a:pPr>
                      <a:r>
                        <a:rPr lang="en-US" sz="2200"/>
                        <a:t>View products</a:t>
                      </a:r>
                      <a:endParaRPr lang="en-US" sz="2200"/>
                    </a:p>
                  </a:txBody>
                  <a:tcPr marL="110899" marR="110899" marT="55449" marB="55449" anchor="ctr">
                    <a:lnL>
                      <a:noFill/>
                    </a:lnL>
                    <a:lnR>
                      <a:noFill/>
                    </a:lnR>
                    <a:lnT>
                      <a:noFill/>
                    </a:lnT>
                    <a:lnB>
                      <a:noFill/>
                    </a:lnB>
                    <a:noFill/>
                  </a:tcPr>
                </a:tc>
                <a:tc>
                  <a:txBody>
                    <a:bodyPr/>
                    <a:lstStyle/>
                    <a:p>
                      <a:pPr>
                        <a:buNone/>
                      </a:pPr>
                      <a:r>
                        <a:rPr lang="en-US" sz="2200"/>
                        <a:t>Edit product</a:t>
                      </a:r>
                      <a:endParaRPr lang="en-US" sz="2200"/>
                    </a:p>
                  </a:txBody>
                  <a:tcPr marL="110899" marR="110899" marT="55449" marB="55449" anchor="ctr">
                    <a:lnL>
                      <a:noFill/>
                    </a:lnL>
                    <a:lnR>
                      <a:noFill/>
                    </a:lnR>
                    <a:lnT>
                      <a:noFill/>
                    </a:lnT>
                    <a:lnB>
                      <a:noFill/>
                    </a:lnB>
                    <a:noFill/>
                  </a:tcPr>
                </a:tc>
                <a:tc>
                  <a:txBody>
                    <a:bodyPr/>
                    <a:lstStyle/>
                    <a:p>
                      <a:pPr>
                        <a:buNone/>
                      </a:pPr>
                      <a:r>
                        <a:rPr lang="en-US" sz="2200"/>
                        <a:t>Delete product</a:t>
                      </a:r>
                      <a:endParaRPr lang="en-US" sz="2200"/>
                    </a:p>
                  </a:txBody>
                  <a:tcPr marL="110899" marR="110899" marT="55449" marB="55449" anchor="ctr">
                    <a:lnL>
                      <a:noFill/>
                    </a:lnL>
                    <a:lnR>
                      <a:noFill/>
                    </a:lnR>
                    <a:lnT>
                      <a:noFill/>
                    </a:lnT>
                    <a:lnB>
                      <a:noFill/>
                    </a:lnB>
                    <a:noFill/>
                  </a:tcPr>
                </a:tc>
              </a:tr>
              <a:tr h="820653">
                <a:tc>
                  <a:txBody>
                    <a:bodyPr/>
                    <a:lstStyle/>
                    <a:p>
                      <a:pPr>
                        <a:buNone/>
                      </a:pPr>
                      <a:r>
                        <a:rPr lang="en-US" sz="2200" b="1"/>
                        <a:t>Cart</a:t>
                      </a:r>
                      <a:endParaRPr lang="en-US" sz="2200"/>
                    </a:p>
                  </a:txBody>
                  <a:tcPr marL="110899" marR="110899" marT="55449" marB="55449" anchor="ctr">
                    <a:lnL>
                      <a:noFill/>
                    </a:lnL>
                    <a:lnR>
                      <a:noFill/>
                    </a:lnR>
                    <a:lnT>
                      <a:noFill/>
                    </a:lnT>
                    <a:lnB>
                      <a:noFill/>
                    </a:lnB>
                    <a:noFill/>
                  </a:tcPr>
                </a:tc>
                <a:tc>
                  <a:txBody>
                    <a:bodyPr/>
                    <a:lstStyle/>
                    <a:p>
                      <a:pPr>
                        <a:buNone/>
                      </a:pPr>
                      <a:r>
                        <a:rPr lang="en-US" sz="2200"/>
                        <a:t>Add to cart</a:t>
                      </a:r>
                      <a:endParaRPr lang="en-US" sz="2200"/>
                    </a:p>
                  </a:txBody>
                  <a:tcPr marL="110899" marR="110899" marT="55449" marB="55449" anchor="ctr">
                    <a:lnL>
                      <a:noFill/>
                    </a:lnL>
                    <a:lnR>
                      <a:noFill/>
                    </a:lnR>
                    <a:lnT>
                      <a:noFill/>
                    </a:lnT>
                    <a:lnB>
                      <a:noFill/>
                    </a:lnB>
                    <a:noFill/>
                  </a:tcPr>
                </a:tc>
                <a:tc>
                  <a:txBody>
                    <a:bodyPr/>
                    <a:lstStyle/>
                    <a:p>
                      <a:pPr>
                        <a:buNone/>
                      </a:pPr>
                      <a:r>
                        <a:rPr lang="en-US" sz="2200"/>
                        <a:t>View cart</a:t>
                      </a:r>
                      <a:endParaRPr lang="en-US" sz="2200"/>
                    </a:p>
                  </a:txBody>
                  <a:tcPr marL="110899" marR="110899" marT="55449" marB="55449" anchor="ctr">
                    <a:lnL>
                      <a:noFill/>
                    </a:lnL>
                    <a:lnR>
                      <a:noFill/>
                    </a:lnR>
                    <a:lnT>
                      <a:noFill/>
                    </a:lnT>
                    <a:lnB>
                      <a:noFill/>
                    </a:lnB>
                    <a:noFill/>
                  </a:tcPr>
                </a:tc>
                <a:tc>
                  <a:txBody>
                    <a:bodyPr/>
                    <a:lstStyle/>
                    <a:p>
                      <a:pPr>
                        <a:buNone/>
                      </a:pPr>
                      <a:r>
                        <a:rPr lang="en-US" sz="2200"/>
                        <a:t>Increase/decrease quantity</a:t>
                      </a:r>
                      <a:endParaRPr lang="en-US" sz="2200"/>
                    </a:p>
                  </a:txBody>
                  <a:tcPr marL="110899" marR="110899" marT="55449" marB="55449" anchor="ctr">
                    <a:lnL>
                      <a:noFill/>
                    </a:lnL>
                    <a:lnR>
                      <a:noFill/>
                    </a:lnR>
                    <a:lnT>
                      <a:noFill/>
                    </a:lnT>
                    <a:lnB>
                      <a:noFill/>
                    </a:lnB>
                    <a:noFill/>
                  </a:tcPr>
                </a:tc>
                <a:tc>
                  <a:txBody>
                    <a:bodyPr/>
                    <a:lstStyle/>
                    <a:p>
                      <a:pPr>
                        <a:buNone/>
                      </a:pPr>
                      <a:r>
                        <a:rPr lang="en-US" sz="2200"/>
                        <a:t>Remove item</a:t>
                      </a:r>
                      <a:endParaRPr lang="en-US" sz="2200"/>
                    </a:p>
                  </a:txBody>
                  <a:tcPr marL="110899" marR="110899" marT="55449" marB="55449" anchor="ctr">
                    <a:lnL>
                      <a:noFill/>
                    </a:lnL>
                    <a:lnR>
                      <a:noFill/>
                    </a:lnR>
                    <a:lnT>
                      <a:noFill/>
                    </a:lnT>
                    <a:lnB>
                      <a:noFill/>
                    </a:lnB>
                    <a:noFill/>
                  </a:tcPr>
                </a:tc>
              </a:tr>
              <a:tr h="820653">
                <a:tc>
                  <a:txBody>
                    <a:bodyPr/>
                    <a:lstStyle/>
                    <a:p>
                      <a:pPr>
                        <a:buNone/>
                      </a:pPr>
                      <a:r>
                        <a:rPr lang="en-US" sz="2200" b="1"/>
                        <a:t>Orders</a:t>
                      </a:r>
                      <a:endParaRPr lang="en-US" sz="2200"/>
                    </a:p>
                  </a:txBody>
                  <a:tcPr marL="110899" marR="110899" marT="55449" marB="55449" anchor="ctr">
                    <a:lnL>
                      <a:noFill/>
                    </a:lnL>
                    <a:lnR>
                      <a:noFill/>
                    </a:lnR>
                    <a:lnT>
                      <a:noFill/>
                    </a:lnT>
                    <a:lnB>
                      <a:noFill/>
                    </a:lnB>
                    <a:noFill/>
                  </a:tcPr>
                </a:tc>
                <a:tc>
                  <a:txBody>
                    <a:bodyPr/>
                    <a:lstStyle/>
                    <a:p>
                      <a:pPr>
                        <a:buNone/>
                      </a:pPr>
                      <a:r>
                        <a:rPr lang="en-US" sz="2200"/>
                        <a:t>Place order</a:t>
                      </a:r>
                      <a:endParaRPr lang="en-US" sz="2200"/>
                    </a:p>
                  </a:txBody>
                  <a:tcPr marL="110899" marR="110899" marT="55449" marB="55449" anchor="ctr">
                    <a:lnL>
                      <a:noFill/>
                    </a:lnL>
                    <a:lnR>
                      <a:noFill/>
                    </a:lnR>
                    <a:lnT>
                      <a:noFill/>
                    </a:lnT>
                    <a:lnB>
                      <a:noFill/>
                    </a:lnB>
                    <a:noFill/>
                  </a:tcPr>
                </a:tc>
                <a:tc>
                  <a:txBody>
                    <a:bodyPr/>
                    <a:lstStyle/>
                    <a:p>
                      <a:pPr>
                        <a:buNone/>
                      </a:pPr>
                      <a:r>
                        <a:rPr lang="en-US" sz="2200"/>
                        <a:t>View orders</a:t>
                      </a:r>
                      <a:endParaRPr lang="en-US" sz="2200"/>
                    </a:p>
                  </a:txBody>
                  <a:tcPr marL="110899" marR="110899" marT="55449" marB="55449" anchor="ctr">
                    <a:lnL>
                      <a:noFill/>
                    </a:lnL>
                    <a:lnR>
                      <a:noFill/>
                    </a:lnR>
                    <a:lnT>
                      <a:noFill/>
                    </a:lnT>
                    <a:lnB>
                      <a:noFill/>
                    </a:lnB>
                    <a:noFill/>
                  </a:tcPr>
                </a:tc>
                <a:tc>
                  <a:txBody>
                    <a:bodyPr/>
                    <a:lstStyle/>
                    <a:p>
                      <a:pPr>
                        <a:buNone/>
                      </a:pPr>
                      <a:r>
                        <a:rPr lang="en-US" sz="2200"/>
                        <a:t>-</a:t>
                      </a:r>
                      <a:endParaRPr lang="en-US" sz="2200"/>
                    </a:p>
                  </a:txBody>
                  <a:tcPr marL="110899" marR="110899" marT="55449" marB="55449" anchor="ctr">
                    <a:lnL>
                      <a:noFill/>
                    </a:lnL>
                    <a:lnR>
                      <a:noFill/>
                    </a:lnR>
                    <a:lnT>
                      <a:noFill/>
                    </a:lnT>
                    <a:lnB>
                      <a:noFill/>
                    </a:lnB>
                    <a:noFill/>
                  </a:tcPr>
                </a:tc>
                <a:tc>
                  <a:txBody>
                    <a:bodyPr/>
                    <a:lstStyle/>
                    <a:p>
                      <a:pPr>
                        <a:buNone/>
                      </a:pPr>
                      <a:r>
                        <a:rPr lang="en-US" sz="2200"/>
                        <a:t>-</a:t>
                      </a:r>
                      <a:endParaRPr lang="en-US" sz="2200"/>
                    </a:p>
                  </a:txBody>
                  <a:tcPr marL="110899" marR="110899" marT="55449" marB="55449" anchor="ctr">
                    <a:lnL>
                      <a:noFill/>
                    </a:lnL>
                    <a:lnR>
                      <a:noFill/>
                    </a:lnR>
                    <a:lnT>
                      <a:noFill/>
                    </a:lnT>
                    <a:lnB>
                      <a:noFill/>
                    </a:lnB>
                    <a:noFill/>
                  </a:tcPr>
                </a:tc>
              </a:tr>
              <a:tr h="487956">
                <a:tc>
                  <a:txBody>
                    <a:bodyPr/>
                    <a:lstStyle/>
                    <a:p>
                      <a:pPr>
                        <a:buNone/>
                      </a:pPr>
                      <a:r>
                        <a:rPr lang="en-US" sz="2200" b="1"/>
                        <a:t>Reviews</a:t>
                      </a:r>
                      <a:endParaRPr lang="en-US" sz="2200"/>
                    </a:p>
                  </a:txBody>
                  <a:tcPr marL="110899" marR="110899" marT="55449" marB="55449" anchor="ctr">
                    <a:lnL>
                      <a:noFill/>
                    </a:lnL>
                    <a:lnR>
                      <a:noFill/>
                    </a:lnR>
                    <a:lnT>
                      <a:noFill/>
                    </a:lnT>
                    <a:lnB>
                      <a:noFill/>
                    </a:lnB>
                    <a:noFill/>
                  </a:tcPr>
                </a:tc>
                <a:tc>
                  <a:txBody>
                    <a:bodyPr/>
                    <a:lstStyle/>
                    <a:p>
                      <a:pPr>
                        <a:buNone/>
                      </a:pPr>
                      <a:r>
                        <a:rPr lang="en-US" sz="2200"/>
                        <a:t>Add review</a:t>
                      </a:r>
                      <a:endParaRPr lang="en-US" sz="2200"/>
                    </a:p>
                  </a:txBody>
                  <a:tcPr marL="110899" marR="110899" marT="55449" marB="55449" anchor="ctr">
                    <a:lnL>
                      <a:noFill/>
                    </a:lnL>
                    <a:lnR>
                      <a:noFill/>
                    </a:lnR>
                    <a:lnT>
                      <a:noFill/>
                    </a:lnT>
                    <a:lnB>
                      <a:noFill/>
                    </a:lnB>
                    <a:noFill/>
                  </a:tcPr>
                </a:tc>
                <a:tc>
                  <a:txBody>
                    <a:bodyPr/>
                    <a:lstStyle/>
                    <a:p>
                      <a:pPr>
                        <a:buNone/>
                      </a:pPr>
                      <a:r>
                        <a:rPr lang="en-US" sz="2200"/>
                        <a:t>View reviews</a:t>
                      </a:r>
                      <a:endParaRPr lang="en-US" sz="2200"/>
                    </a:p>
                  </a:txBody>
                  <a:tcPr marL="110899" marR="110899" marT="55449" marB="55449" anchor="ctr">
                    <a:lnL>
                      <a:noFill/>
                    </a:lnL>
                    <a:lnR>
                      <a:noFill/>
                    </a:lnR>
                    <a:lnT>
                      <a:noFill/>
                    </a:lnT>
                    <a:lnB>
                      <a:noFill/>
                    </a:lnB>
                    <a:noFill/>
                  </a:tcPr>
                </a:tc>
                <a:tc>
                  <a:txBody>
                    <a:bodyPr/>
                    <a:lstStyle/>
                    <a:p>
                      <a:pPr>
                        <a:buNone/>
                      </a:pPr>
                      <a:r>
                        <a:rPr lang="en-US" sz="2200"/>
                        <a:t>-</a:t>
                      </a:r>
                      <a:endParaRPr lang="en-US" sz="2200"/>
                    </a:p>
                  </a:txBody>
                  <a:tcPr marL="110899" marR="110899" marT="55449" marB="55449" anchor="ctr">
                    <a:lnL>
                      <a:noFill/>
                    </a:lnL>
                    <a:lnR>
                      <a:noFill/>
                    </a:lnR>
                    <a:lnT>
                      <a:noFill/>
                    </a:lnT>
                    <a:lnB>
                      <a:noFill/>
                    </a:lnB>
                    <a:noFill/>
                  </a:tcPr>
                </a:tc>
                <a:tc>
                  <a:txBody>
                    <a:bodyPr/>
                    <a:lstStyle/>
                    <a:p>
                      <a:pPr>
                        <a:buNone/>
                      </a:pPr>
                      <a:r>
                        <a:rPr lang="en-US" sz="2200"/>
                        <a:t>-</a:t>
                      </a:r>
                      <a:endParaRPr lang="en-US" sz="2200"/>
                    </a:p>
                  </a:txBody>
                  <a:tcPr marL="110899" marR="110899" marT="55449" marB="55449" anchor="ctr">
                    <a:lnL>
                      <a:noFill/>
                    </a:lnL>
                    <a:lnR>
                      <a:noFill/>
                    </a:lnR>
                    <a:lnT>
                      <a:noFill/>
                    </a:lnT>
                    <a:lnB>
                      <a:noFill/>
                    </a:lnB>
                    <a:noFill/>
                  </a:tcPr>
                </a:tc>
              </a:tr>
            </a:tbl>
          </a:graphicData>
        </a:graphic>
      </p:graphicFrame>
      <p:sp>
        <p:nvSpPr>
          <p:cNvPr id="5" name="TextBox 4"/>
          <p:cNvSpPr txBox="1"/>
          <p:nvPr/>
        </p:nvSpPr>
        <p:spPr>
          <a:xfrm>
            <a:off x="1373909" y="127000"/>
            <a:ext cx="875145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3600">
                <a:ea typeface="+mn-lt"/>
                <a:cs typeface="+mn-lt"/>
              </a:rPr>
              <a:t>CRUD Operations Across Project Modules</a:t>
            </a:r>
            <a:endParaRPr lang="en-US" sz="36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35048" y="2967335"/>
            <a:ext cx="3921907" cy="923330"/>
          </a:xfrm>
          <a:prstGeom prst="rect">
            <a:avLst/>
          </a:prstGeom>
          <a:noFill/>
        </p:spPr>
        <p:txBody>
          <a:bodyPr wrap="none" lIns="91440" tIns="45720" rIns="91440" bIns="45720">
            <a:spAutoFit/>
          </a:bodyPr>
          <a:lstStyle/>
          <a:p>
            <a:pPr algn="ctr"/>
            <a:r>
              <a:rPr lang="en-US" sz="5400" b="1" cap="none" spc="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THANK YOU</a:t>
            </a:r>
            <a:endParaRPr lang="en-US" sz="5400" b="1" cap="none" spc="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5972</Words>
  <Application>WPS Presentation</Application>
  <PresentationFormat>Widescreen</PresentationFormat>
  <Paragraphs>259</Paragraphs>
  <Slides>18</Slides>
  <Notes>0</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18</vt:i4>
      </vt:variant>
    </vt:vector>
  </HeadingPairs>
  <TitlesOfParts>
    <vt:vector size="39" baseType="lpstr">
      <vt:lpstr>Arial</vt:lpstr>
      <vt:lpstr>SimSun</vt:lpstr>
      <vt:lpstr>Wingdings</vt:lpstr>
      <vt:lpstr>Bookman Old Style</vt:lpstr>
      <vt:lpstr>Baskerville Old Face</vt:lpstr>
      <vt:lpstr>Times New Roman</vt:lpstr>
      <vt:lpstr>Baskerville Old Face</vt:lpstr>
      <vt:lpstr>Consolas</vt:lpstr>
      <vt:lpstr>Times New Roman</vt:lpstr>
      <vt:lpstr>Aptos Display</vt:lpstr>
      <vt:lpstr>Segoe UI Variable Display</vt:lpstr>
      <vt:lpstr>Aptos</vt:lpstr>
      <vt:lpstr>Segoe UI</vt:lpstr>
      <vt:lpstr>Microsoft YaHei</vt:lpstr>
      <vt:lpstr>Arial Unicode MS</vt:lpstr>
      <vt:lpstr>Calibri</vt:lpstr>
      <vt:lpstr>Segoe UI</vt:lpstr>
      <vt:lpstr>Arial,Sans-Serif</vt:lpstr>
      <vt:lpstr>Segoe Print</vt:lpstr>
      <vt:lpstr>Arial</vt:lpstr>
      <vt:lpstr>Office Theme</vt:lpstr>
      <vt:lpstr>Online shopping funnel Analysis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Aswathy Sreekumar - [CEN - ASAI]</dc:creator>
  <cp:lastModifiedBy>Harin</cp:lastModifiedBy>
  <cp:revision>4</cp:revision>
  <dcterms:created xsi:type="dcterms:W3CDTF">2026-08-10T14:57:00Z</dcterms:created>
  <dcterms:modified xsi:type="dcterms:W3CDTF">2026-10-15T17:15:53Z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1033-12.1.0.29162</vt:lpwstr>
  </property>
  <property fmtid="{D5CDD505-2E9C-101B-9397-08002B2CF9AE}" pid="3" name="ICV">
    <vt:lpwstr>45265F474C8A448292FB449C57CEB9EC_13</vt:lpwstr>
  </property>
</Properties>
</file>